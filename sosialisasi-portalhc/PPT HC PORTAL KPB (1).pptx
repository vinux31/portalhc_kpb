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62" r:id="rId4"/>
    <p:sldId id="263" r:id="rId5"/>
    <p:sldId id="264" r:id="rId6"/>
    <p:sldId id="266" r:id="rId7"/>
    <p:sldId id="265" r:id="rId8"/>
    <p:sldId id="267" r:id="rId9"/>
    <p:sldId id="268" r:id="rId10"/>
    <p:sldId id="269" r:id="rId11"/>
    <p:sldId id="272" r:id="rId12"/>
    <p:sldId id="273" r:id="rId13"/>
    <p:sldId id="270" r:id="rId14"/>
    <p:sldId id="271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53FB-A01D-2DA1-1A0A-97B4BE9CC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D70B9-726C-B10B-6A60-B67025DCE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501E3-A897-B216-9B6C-EBED346D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C4741-DC2A-BE8F-E9E1-05158C92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29F5-3E02-14C7-AFA8-7270FE3A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F107-985A-5C47-2922-E4426C58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0A55B-EA28-4586-E6CE-E5C35A51D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46AB8-8A5D-3F43-7EA6-F9EF1CF3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4CC8A-D523-158B-D146-96352819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4CD75-7474-147A-88CE-F81EE2FA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6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F5F1-31EB-07A4-BA88-E26AEC682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ABEFD-7744-FC74-A583-5CBA0F779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6F8EA-FBB9-8667-29B2-065D4053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7B3D9-3A60-CB3F-9E55-4BD1E7C05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836D8-6960-0F96-4743-84E5AA08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0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543C-8290-CC0B-2D9E-576726D9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CB0A-23EC-A380-751E-2DB403730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1E5DE-ADC3-24B0-87C7-65049470F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46F2C-2CC8-DD19-144E-CBF69DED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4FDEA-4C7E-7896-145C-43BE332F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CB6E2-558B-E498-6976-64C3414F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30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E0BD5-E397-0C8B-7866-FD6FE41B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EE7FB-E53F-B69B-E94A-2AAE838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9789D-4C7F-3FCE-5F7E-0459A5E44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CC5B2-6C44-08E2-C8AF-49908F858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886C5-C77A-6933-0556-7574B5F2D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BC19D-DD1B-5471-DB3A-AE7AE7D1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B88A6-C837-24CB-BC65-29DC57BF9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08EAE-90E1-D73A-1085-3E8E2B6C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6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23E1-5D1A-E529-BB82-788C5C864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80BB1-3C57-62D9-B6DE-355558BD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C13EA-7595-4EAF-2F84-6F71CB36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00B76-CF58-8389-C5BE-1E10C897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1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34C3DB-D97B-DE05-395F-2FA4DC13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A2BD1-0E68-537E-30BE-15C01221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D8950-02C2-B0BD-EB9F-F8298A8C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8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F9B9-0B79-28EE-8924-7A8927BC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E64D-823A-325E-EDF3-4C1AAA02F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4F70-0FE2-3FDE-9471-63ECFDA7E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8E55C-1528-9481-C47F-B2D1043A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C7D3A-90D4-7B4F-16A6-D1AFE654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CC0BE-27EB-B56C-EC6B-23D2428D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4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97A60-C3F8-6E81-F5D4-9D10810D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9827B-D0E4-C63C-9869-AC64BCEE5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CB65A-A578-7067-AFBD-992B8BDB9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758B1-B089-2112-AB33-4959452C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1142B-E7F6-AD1B-7465-CADA2084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95B92-6660-6995-58FA-CAFED49D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8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C10B-4F22-CC40-CAF4-DE7D0958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30522-664D-21AC-62BB-25BF3F2E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6E7EE-E814-F415-C314-ABAE119A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A1AC-720F-E77F-C6D1-4F5244A8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C02E1-25A4-27A2-ECE6-C76A4ED7C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4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C29E15-40E1-927F-D811-01FC8F16B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2D5CD-2C30-B805-3DA4-DAE25491A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F3FD-2B7A-E625-5735-74509325D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A9F69-C365-4DDB-28A0-5B560E78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3603E-1088-E9F7-AE6F-78CDF0EC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49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06949-C8E3-7277-4E31-AD7BA2C7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B4677-A35B-9225-8921-6E5BA7F7A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5997-30CA-964D-A71C-676B25E3E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588874-9166-48F2-BE60-A649E0D915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83AB8-0FD2-6E3E-8E74-D5E2406F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ECF80-4C1D-F922-C1A8-2D30627C7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51C9-2AB0-46C8-A324-4332CCAEC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53CDC9-F007-FC58-2AF4-B6626188E42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85F24-53A5-140D-4B00-DF277663AF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A52B04-A7EA-C8E2-4678-89CD2F2D43F3}"/>
              </a:ext>
            </a:extLst>
          </p:cNvPr>
          <p:cNvSpPr/>
          <p:nvPr/>
        </p:nvSpPr>
        <p:spPr>
          <a:xfrm>
            <a:off x="0" y="2845675"/>
            <a:ext cx="7598979" cy="828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+mj-lt"/>
                <a:cs typeface="Times New Roman" panose="02020603050405020304" pitchFamily="18" charset="0"/>
              </a:rPr>
              <a:t>HUMAN CAPITAL PORTAL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B333-30C1-70D6-FA23-2CEBEF4A1EC8}"/>
              </a:ext>
            </a:extLst>
          </p:cNvPr>
          <p:cNvSpPr/>
          <p:nvPr/>
        </p:nvSpPr>
        <p:spPr>
          <a:xfrm>
            <a:off x="1433515" y="3674350"/>
            <a:ext cx="10758486" cy="828675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+mj-lt"/>
                <a:cs typeface="Times New Roman" panose="02020603050405020304" pitchFamily="18" charset="0"/>
              </a:rPr>
              <a:t>KILANG PERTAMINA BALIKPAPAN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F4864D-AFD9-48CA-149B-2832DA076C8A}"/>
              </a:ext>
            </a:extLst>
          </p:cNvPr>
          <p:cNvSpPr/>
          <p:nvPr/>
        </p:nvSpPr>
        <p:spPr>
          <a:xfrm>
            <a:off x="0" y="6526923"/>
            <a:ext cx="3174124" cy="3310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Balikpapan, 27 Maret 2026</a:t>
            </a:r>
          </a:p>
        </p:txBody>
      </p:sp>
    </p:spTree>
    <p:extLst>
      <p:ext uri="{BB962C8B-B14F-4D97-AF65-F5344CB8AC3E}">
        <p14:creationId xmlns:p14="http://schemas.microsoft.com/office/powerpoint/2010/main" val="348212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8EAF8-8332-BEA4-CE21-9FC296C53CFD}"/>
              </a:ext>
            </a:extLst>
          </p:cNvPr>
          <p:cNvSpPr/>
          <p:nvPr/>
        </p:nvSpPr>
        <p:spPr>
          <a:xfrm>
            <a:off x="-69851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A40417-CF5A-7A3D-D379-9B6453EE8E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6" name="Group 2">
            <a:extLst>
              <a:ext uri="{FF2B5EF4-FFF2-40B4-BE49-F238E27FC236}">
                <a16:creationId xmlns:a16="http://schemas.microsoft.com/office/drawing/2014/main" id="{3DDE8786-A2BB-D6A7-BB35-28638F6F130A}"/>
              </a:ext>
            </a:extLst>
          </p:cNvPr>
          <p:cNvGrpSpPr/>
          <p:nvPr/>
        </p:nvGrpSpPr>
        <p:grpSpPr>
          <a:xfrm>
            <a:off x="0" y="5989241"/>
            <a:ext cx="12191999" cy="868759"/>
            <a:chOff x="0" y="0"/>
            <a:chExt cx="5091736" cy="110848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AF798E0-6B66-2B21-07B2-80C3D7FF2B63}"/>
                </a:ext>
              </a:extLst>
            </p:cNvPr>
            <p:cNvSpPr/>
            <p:nvPr/>
          </p:nvSpPr>
          <p:spPr>
            <a:xfrm>
              <a:off x="0" y="0"/>
              <a:ext cx="5091736" cy="1108484"/>
            </a:xfrm>
            <a:custGeom>
              <a:avLst/>
              <a:gdLst/>
              <a:ahLst/>
              <a:cxnLst/>
              <a:rect l="l" t="t" r="r" b="b"/>
              <a:pathLst>
                <a:path w="5091736" h="1108484">
                  <a:moveTo>
                    <a:pt x="40046" y="0"/>
                  </a:moveTo>
                  <a:lnTo>
                    <a:pt x="5051690" y="0"/>
                  </a:lnTo>
                  <a:cubicBezTo>
                    <a:pt x="5073807" y="0"/>
                    <a:pt x="5091736" y="17929"/>
                    <a:pt x="5091736" y="40046"/>
                  </a:cubicBezTo>
                  <a:lnTo>
                    <a:pt x="5091736" y="1068439"/>
                  </a:lnTo>
                  <a:cubicBezTo>
                    <a:pt x="5091736" y="1090555"/>
                    <a:pt x="5073807" y="1108484"/>
                    <a:pt x="5051690" y="1108484"/>
                  </a:cubicBezTo>
                  <a:lnTo>
                    <a:pt x="40046" y="1108484"/>
                  </a:lnTo>
                  <a:cubicBezTo>
                    <a:pt x="17929" y="1108484"/>
                    <a:pt x="0" y="1090555"/>
                    <a:pt x="0" y="1068439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29D8F3B-B961-014E-2097-A4E170813A8D}"/>
                </a:ext>
              </a:extLst>
            </p:cNvPr>
            <p:cNvSpPr txBox="1"/>
            <p:nvPr/>
          </p:nvSpPr>
          <p:spPr>
            <a:xfrm>
              <a:off x="0" y="-38100"/>
              <a:ext cx="5091736" cy="11465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A35ED099-DDED-0ACA-3965-16693CC473EC}"/>
              </a:ext>
            </a:extLst>
          </p:cNvPr>
          <p:cNvGrpSpPr/>
          <p:nvPr/>
        </p:nvGrpSpPr>
        <p:grpSpPr>
          <a:xfrm>
            <a:off x="101598" y="965200"/>
            <a:ext cx="149849" cy="614669"/>
            <a:chOff x="0" y="0"/>
            <a:chExt cx="62581" cy="242832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1804D86C-A189-999E-B795-C05A8B5B808D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77E7ADD1-580E-E2DA-21AA-A5C6EA70EB57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EC0F5B7B-0B69-4515-0CF0-667CDCFB3B4F}"/>
              </a:ext>
            </a:extLst>
          </p:cNvPr>
          <p:cNvSpPr txBox="1"/>
          <p:nvPr/>
        </p:nvSpPr>
        <p:spPr>
          <a:xfrm>
            <a:off x="350493" y="1003416"/>
            <a:ext cx="4520817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HC PORTAL KPB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B0E6812F-CA69-696D-C1EF-1F23F4F87507}"/>
              </a:ext>
            </a:extLst>
          </p:cNvPr>
          <p:cNvSpPr txBox="1"/>
          <p:nvPr/>
        </p:nvSpPr>
        <p:spPr>
          <a:xfrm>
            <a:off x="82548" y="1579869"/>
            <a:ext cx="6604001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</a:pP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sistem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informasi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berbasis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web yang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digunakan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oleh Tim Human Capital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Kilang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Pertamina Balikpapan untuk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mengelola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kompetensi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pengembangan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pekerja</a:t>
            </a:r>
            <a:endParaRPr lang="en-US" sz="1467" dirty="0">
              <a:solidFill>
                <a:schemeClr val="tx1">
                  <a:lumMod val="65000"/>
                  <a:lumOff val="3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A07B69C-CD0E-92B6-0B43-B7ED3EEE27B2}"/>
              </a:ext>
            </a:extLst>
          </p:cNvPr>
          <p:cNvSpPr/>
          <p:nvPr/>
        </p:nvSpPr>
        <p:spPr>
          <a:xfrm>
            <a:off x="3039096" y="2470976"/>
            <a:ext cx="609602" cy="1184140"/>
          </a:xfrm>
          <a:prstGeom prst="downArrow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43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Gambar Tanda Centang Png, Vektor, PSD, dan Clipart Dengan ...">
            <a:extLst>
              <a:ext uri="{FF2B5EF4-FFF2-40B4-BE49-F238E27FC236}">
                <a16:creationId xmlns:a16="http://schemas.microsoft.com/office/drawing/2014/main" id="{DE872841-E0D2-416D-D81C-0474BB6D3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-69851" y="3701637"/>
            <a:ext cx="598177" cy="61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Gambar Tanda Centang Png, Vektor, PSD, dan Clipart Dengan ...">
            <a:extLst>
              <a:ext uri="{FF2B5EF4-FFF2-40B4-BE49-F238E27FC236}">
                <a16:creationId xmlns:a16="http://schemas.microsoft.com/office/drawing/2014/main" id="{E2F6E5B4-0DC7-2928-DD02-A2440131A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-139701" y="4666837"/>
            <a:ext cx="598177" cy="61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2">
            <a:extLst>
              <a:ext uri="{FF2B5EF4-FFF2-40B4-BE49-F238E27FC236}">
                <a16:creationId xmlns:a16="http://schemas.microsoft.com/office/drawing/2014/main" id="{50B48653-07C2-F610-890E-5DC90916FA24}"/>
              </a:ext>
            </a:extLst>
          </p:cNvPr>
          <p:cNvSpPr txBox="1"/>
          <p:nvPr/>
        </p:nvSpPr>
        <p:spPr>
          <a:xfrm>
            <a:off x="511309" y="3784830"/>
            <a:ext cx="10451862" cy="523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CMP (Competency Management Program) </a:t>
            </a:r>
            <a:r>
              <a:rPr lang="en-US" sz="2000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 err="1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Pengelolaan</a:t>
            </a:r>
            <a:r>
              <a:rPr lang="en-US" sz="1400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 assessment/</a:t>
            </a:r>
            <a:r>
              <a:rPr lang="en-US" sz="1400" dirty="0" err="1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ujian</a:t>
            </a:r>
            <a:r>
              <a:rPr lang="en-US" sz="1400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kompetensi,sertifikasi</a:t>
            </a:r>
            <a:r>
              <a:rPr lang="en-US" sz="1400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, dan </a:t>
            </a:r>
            <a:r>
              <a:rPr lang="en-US" sz="1400" dirty="0" err="1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catatan</a:t>
            </a:r>
            <a:r>
              <a:rPr lang="en-US" sz="1400" dirty="0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+mj-lt"/>
                <a:cs typeface="Times New Roman" panose="02020603050405020304" pitchFamily="18" charset="0"/>
              </a:rPr>
              <a:t>penilaian</a:t>
            </a:r>
            <a:endParaRPr lang="en-US" sz="1400" dirty="0">
              <a:solidFill>
                <a:srgbClr val="1A1A1A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8F9B13-2C91-9A14-9EBB-E2EB527FFDB2}"/>
              </a:ext>
            </a:extLst>
          </p:cNvPr>
          <p:cNvSpPr txBox="1"/>
          <p:nvPr/>
        </p:nvSpPr>
        <p:spPr>
          <a:xfrm>
            <a:off x="441948" y="4647668"/>
            <a:ext cx="6165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+mj-lt"/>
                <a:cs typeface="Times New Roman" panose="02020603050405020304" pitchFamily="18" charset="0"/>
              </a:rPr>
              <a:t>CDP (Continuous Development Program) </a:t>
            </a:r>
          </a:p>
          <a:p>
            <a:r>
              <a:rPr lang="en-US" sz="1400" dirty="0" err="1">
                <a:latin typeface="+mj-lt"/>
                <a:cs typeface="Times New Roman" panose="02020603050405020304" pitchFamily="18" charset="0"/>
              </a:rPr>
              <a:t>Pengelolaan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 coaching, deliverable, IDP(Individual Development Plan), dan </a:t>
            </a:r>
            <a:r>
              <a:rPr lang="en-US" sz="1400" dirty="0" err="1">
                <a:latin typeface="+mj-lt"/>
                <a:cs typeface="Times New Roman" panose="02020603050405020304" pitchFamily="18" charset="0"/>
              </a:rPr>
              <a:t>sertifikasi</a:t>
            </a:r>
            <a:r>
              <a:rPr lang="en-US" sz="14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+mj-lt"/>
                <a:cs typeface="Times New Roman" panose="02020603050405020304" pitchFamily="18" charset="0"/>
              </a:rPr>
              <a:t>kompetensi</a:t>
            </a:r>
            <a:endParaRPr lang="en-US" sz="1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F07444-7F1D-A6D4-C529-935DE2DED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1" y="1011034"/>
            <a:ext cx="5435600" cy="46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5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4EC0-5926-D472-24D7-EE0A6D1C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5D8A3-9159-5EE0-FE5F-30230D2117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1">
              <a:buClr>
                <a:srgbClr val="2E7D32"/>
              </a:buClr>
              <a:buSzPts val="1200"/>
              <a:tabLst>
                <a:tab pos="333375" algn="l"/>
              </a:tabLst>
            </a:pPr>
            <a:endParaRPr lang="en-US" sz="2000" b="1" kern="0" spc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139F8-96B8-9ED7-FAA1-4CF9C40C4D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12" name="Group 2">
            <a:extLst>
              <a:ext uri="{FF2B5EF4-FFF2-40B4-BE49-F238E27FC236}">
                <a16:creationId xmlns:a16="http://schemas.microsoft.com/office/drawing/2014/main" id="{FADFCF5F-199C-01E0-D4A7-0D77E6109C08}"/>
              </a:ext>
            </a:extLst>
          </p:cNvPr>
          <p:cNvGrpSpPr/>
          <p:nvPr/>
        </p:nvGrpSpPr>
        <p:grpSpPr>
          <a:xfrm>
            <a:off x="0" y="6071190"/>
            <a:ext cx="12191999" cy="786809"/>
            <a:chOff x="0" y="0"/>
            <a:chExt cx="5091736" cy="1108484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00A0B86C-4DCA-2DA1-82DD-DA33AD7FEE71}"/>
                </a:ext>
              </a:extLst>
            </p:cNvPr>
            <p:cNvSpPr/>
            <p:nvPr/>
          </p:nvSpPr>
          <p:spPr>
            <a:xfrm>
              <a:off x="0" y="0"/>
              <a:ext cx="5091736" cy="1108484"/>
            </a:xfrm>
            <a:custGeom>
              <a:avLst/>
              <a:gdLst/>
              <a:ahLst/>
              <a:cxnLst/>
              <a:rect l="l" t="t" r="r" b="b"/>
              <a:pathLst>
                <a:path w="5091736" h="1108484">
                  <a:moveTo>
                    <a:pt x="40046" y="0"/>
                  </a:moveTo>
                  <a:lnTo>
                    <a:pt x="5051690" y="0"/>
                  </a:lnTo>
                  <a:cubicBezTo>
                    <a:pt x="5073807" y="0"/>
                    <a:pt x="5091736" y="17929"/>
                    <a:pt x="5091736" y="40046"/>
                  </a:cubicBezTo>
                  <a:lnTo>
                    <a:pt x="5091736" y="1068439"/>
                  </a:lnTo>
                  <a:cubicBezTo>
                    <a:pt x="5091736" y="1090555"/>
                    <a:pt x="5073807" y="1108484"/>
                    <a:pt x="5051690" y="1108484"/>
                  </a:cubicBezTo>
                  <a:lnTo>
                    <a:pt x="40046" y="1108484"/>
                  </a:lnTo>
                  <a:cubicBezTo>
                    <a:pt x="17929" y="1108484"/>
                    <a:pt x="0" y="1090555"/>
                    <a:pt x="0" y="1068439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7CBFA239-7F21-4760-70EE-2CAE8B9AD5B1}"/>
                </a:ext>
              </a:extLst>
            </p:cNvPr>
            <p:cNvSpPr txBox="1"/>
            <p:nvPr/>
          </p:nvSpPr>
          <p:spPr>
            <a:xfrm>
              <a:off x="0" y="-38100"/>
              <a:ext cx="5091736" cy="11465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6CDC8B55-D97A-A8AB-AE46-3909400E8441}"/>
              </a:ext>
            </a:extLst>
          </p:cNvPr>
          <p:cNvGrpSpPr/>
          <p:nvPr/>
        </p:nvGrpSpPr>
        <p:grpSpPr>
          <a:xfrm>
            <a:off x="152399" y="1263418"/>
            <a:ext cx="149849" cy="614669"/>
            <a:chOff x="0" y="0"/>
            <a:chExt cx="62581" cy="242832"/>
          </a:xfrm>
        </p:grpSpPr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54DE635F-2257-F46F-0AB4-8AD376BC4A48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E9921CB3-4BDD-6E1D-30DE-1C10122E2D40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TextBox 11">
            <a:extLst>
              <a:ext uri="{FF2B5EF4-FFF2-40B4-BE49-F238E27FC236}">
                <a16:creationId xmlns:a16="http://schemas.microsoft.com/office/drawing/2014/main" id="{DF662377-9744-8EE5-F56C-E04DC20E185C}"/>
              </a:ext>
            </a:extLst>
          </p:cNvPr>
          <p:cNvSpPr txBox="1"/>
          <p:nvPr/>
        </p:nvSpPr>
        <p:spPr>
          <a:xfrm>
            <a:off x="441947" y="1296991"/>
            <a:ext cx="6292227" cy="571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Struktur</a:t>
            </a: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 Role </a:t>
            </a: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Pengguna</a:t>
            </a:r>
            <a:endParaRPr lang="en-US" sz="3600" b="1" dirty="0">
              <a:solidFill>
                <a:srgbClr val="0C8EB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FB9FC33-48AA-E073-D93E-934DC024F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630880"/>
              </p:ext>
            </p:extLst>
          </p:nvPr>
        </p:nvGraphicFramePr>
        <p:xfrm>
          <a:off x="187217" y="2079864"/>
          <a:ext cx="11817564" cy="3347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773">
                  <a:extLst>
                    <a:ext uri="{9D8B030D-6E8A-4147-A177-3AD203B41FA5}">
                      <a16:colId xmlns:a16="http://schemas.microsoft.com/office/drawing/2014/main" val="3950646244"/>
                    </a:ext>
                  </a:extLst>
                </a:gridCol>
                <a:gridCol w="3160295">
                  <a:extLst>
                    <a:ext uri="{9D8B030D-6E8A-4147-A177-3AD203B41FA5}">
                      <a16:colId xmlns:a16="http://schemas.microsoft.com/office/drawing/2014/main" val="2688909288"/>
                    </a:ext>
                  </a:extLst>
                </a:gridCol>
                <a:gridCol w="7427496">
                  <a:extLst>
                    <a:ext uri="{9D8B030D-6E8A-4147-A177-3AD203B41FA5}">
                      <a16:colId xmlns:a16="http://schemas.microsoft.com/office/drawing/2014/main" val="2958529262"/>
                    </a:ext>
                  </a:extLst>
                </a:gridCol>
              </a:tblGrid>
              <a:tr h="32127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Role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Akses Utama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474484"/>
                  </a:ext>
                </a:extLst>
              </a:tr>
              <a:tr h="58659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Administrator </a:t>
                      </a:r>
                      <a:r>
                        <a:rPr lang="en-US" dirty="0" err="1"/>
                        <a:t>Sistem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Seluruh fitur tanpa terkecuali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238172"/>
                  </a:ext>
                </a:extLst>
              </a:tr>
              <a:tr h="16290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 Human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Kelola Data, Monitoring, Coaching Review, </a:t>
                      </a:r>
                      <a:r>
                        <a:rPr lang="en-US" dirty="0" err="1"/>
                        <a:t>Sertifikasi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166506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 Information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Sama</a:t>
                      </a:r>
                      <a:r>
                        <a:rPr lang="id-ID" sz="1800" spc="-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seperti role standar +</a:t>
                      </a:r>
                      <a:r>
                        <a:rPr lang="id-ID" sz="1800" spc="-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troubleshooting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teknis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660899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Coach/Supervisor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Coaching</a:t>
                      </a:r>
                      <a:r>
                        <a:rPr lang="id-ID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Proton,</a:t>
                      </a:r>
                      <a:r>
                        <a:rPr lang="id-ID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Review</a:t>
                      </a:r>
                      <a:r>
                        <a:rPr lang="id-ID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Deliverable,</a:t>
                      </a:r>
                      <a:r>
                        <a:rPr lang="id-ID" sz="1800" spc="-5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Approve/Reject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614071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Pekerja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Coachee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Assessment, IDP,</a:t>
                      </a:r>
                      <a:r>
                        <a:rPr lang="id-ID" sz="1800" spc="-1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Submit</a:t>
                      </a:r>
                      <a:r>
                        <a:rPr lang="id-ID" sz="1800" spc="-1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Deliverable,</a:t>
                      </a:r>
                      <a:r>
                        <a:rPr lang="id-ID" sz="1800" spc="-1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Lihat</a:t>
                      </a:r>
                      <a:r>
                        <a:rPr lang="id-ID" sz="1800" spc="-15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793280"/>
                  </a:ext>
                </a:extLst>
              </a:tr>
            </a:tbl>
          </a:graphicData>
        </a:graphic>
      </p:graphicFrame>
      <p:grpSp>
        <p:nvGrpSpPr>
          <p:cNvPr id="1036" name="Group 25"/>
          <p:cNvGrpSpPr>
            <a:grpSpLocks/>
          </p:cNvGrpSpPr>
          <p:nvPr/>
        </p:nvGrpSpPr>
        <p:grpSpPr bwMode="auto">
          <a:xfrm>
            <a:off x="0" y="-155575"/>
            <a:ext cx="895350" cy="438150"/>
            <a:chOff x="0" y="0"/>
            <a:chExt cx="8953" cy="4381"/>
          </a:xfrm>
        </p:grpSpPr>
      </p:grpSp>
      <p:grpSp>
        <p:nvGrpSpPr>
          <p:cNvPr id="1031" name="Group 30"/>
          <p:cNvGrpSpPr>
            <a:grpSpLocks/>
          </p:cNvGrpSpPr>
          <p:nvPr/>
        </p:nvGrpSpPr>
        <p:grpSpPr bwMode="auto">
          <a:xfrm>
            <a:off x="0" y="-165100"/>
            <a:ext cx="895350" cy="438150"/>
            <a:chOff x="0" y="0"/>
            <a:chExt cx="8953" cy="4381"/>
          </a:xfrm>
        </p:grpSpPr>
      </p:grpSp>
      <p:grpSp>
        <p:nvGrpSpPr>
          <p:cNvPr id="1026" name="Group 35"/>
          <p:cNvGrpSpPr>
            <a:grpSpLocks/>
          </p:cNvGrpSpPr>
          <p:nvPr/>
        </p:nvGrpSpPr>
        <p:grpSpPr bwMode="auto">
          <a:xfrm>
            <a:off x="0" y="-155575"/>
            <a:ext cx="895350" cy="438150"/>
            <a:chOff x="0" y="0"/>
            <a:chExt cx="8953" cy="4381"/>
          </a:xfrm>
        </p:grpSpPr>
      </p:grpSp>
      <p:grpSp>
        <p:nvGrpSpPr>
          <p:cNvPr id="1034" name="Group 28"/>
          <p:cNvGrpSpPr>
            <a:grpSpLocks/>
          </p:cNvGrpSpPr>
          <p:nvPr/>
        </p:nvGrpSpPr>
        <p:grpSpPr bwMode="auto">
          <a:xfrm>
            <a:off x="133350" y="-60325"/>
            <a:ext cx="342900" cy="247650"/>
            <a:chOff x="0" y="0"/>
            <a:chExt cx="342900" cy="247650"/>
          </a:xfrm>
        </p:grpSpPr>
      </p:grpSp>
      <p:grpSp>
        <p:nvGrpSpPr>
          <p:cNvPr id="1029" name="Group 33"/>
          <p:cNvGrpSpPr>
            <a:grpSpLocks/>
          </p:cNvGrpSpPr>
          <p:nvPr/>
        </p:nvGrpSpPr>
        <p:grpSpPr bwMode="auto">
          <a:xfrm>
            <a:off x="133350" y="-60325"/>
            <a:ext cx="495300" cy="238125"/>
            <a:chOff x="0" y="0"/>
            <a:chExt cx="495300" cy="238125"/>
          </a:xfrm>
        </p:grpSpPr>
      </p:grpSp>
    </p:spTree>
    <p:extLst>
      <p:ext uri="{BB962C8B-B14F-4D97-AF65-F5344CB8AC3E}">
        <p14:creationId xmlns:p14="http://schemas.microsoft.com/office/powerpoint/2010/main" val="499325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B5902-C141-9BD3-503E-CA1B3F53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D452FD-7851-FE40-FD35-403ED5EA58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EA66C-DAA6-1DFA-68D1-CD28D42A9A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19" name="Group 2">
            <a:extLst>
              <a:ext uri="{FF2B5EF4-FFF2-40B4-BE49-F238E27FC236}">
                <a16:creationId xmlns:a16="http://schemas.microsoft.com/office/drawing/2014/main" id="{7DAC71A7-4D05-994F-454C-B96146FAE4E0}"/>
              </a:ext>
            </a:extLst>
          </p:cNvPr>
          <p:cNvGrpSpPr/>
          <p:nvPr/>
        </p:nvGrpSpPr>
        <p:grpSpPr>
          <a:xfrm>
            <a:off x="0" y="6019800"/>
            <a:ext cx="12191999" cy="838200"/>
            <a:chOff x="0" y="0"/>
            <a:chExt cx="5091736" cy="1108484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19CDB6E7-7F5D-747E-6BD4-444C2D22A1EF}"/>
                </a:ext>
              </a:extLst>
            </p:cNvPr>
            <p:cNvSpPr/>
            <p:nvPr/>
          </p:nvSpPr>
          <p:spPr>
            <a:xfrm>
              <a:off x="0" y="0"/>
              <a:ext cx="5091736" cy="1108484"/>
            </a:xfrm>
            <a:custGeom>
              <a:avLst/>
              <a:gdLst/>
              <a:ahLst/>
              <a:cxnLst/>
              <a:rect l="l" t="t" r="r" b="b"/>
              <a:pathLst>
                <a:path w="5091736" h="1108484">
                  <a:moveTo>
                    <a:pt x="40046" y="0"/>
                  </a:moveTo>
                  <a:lnTo>
                    <a:pt x="5051690" y="0"/>
                  </a:lnTo>
                  <a:cubicBezTo>
                    <a:pt x="5073807" y="0"/>
                    <a:pt x="5091736" y="17929"/>
                    <a:pt x="5091736" y="40046"/>
                  </a:cubicBezTo>
                  <a:lnTo>
                    <a:pt x="5091736" y="1068439"/>
                  </a:lnTo>
                  <a:cubicBezTo>
                    <a:pt x="5091736" y="1090555"/>
                    <a:pt x="5073807" y="1108484"/>
                    <a:pt x="5051690" y="1108484"/>
                  </a:cubicBezTo>
                  <a:lnTo>
                    <a:pt x="40046" y="1108484"/>
                  </a:lnTo>
                  <a:cubicBezTo>
                    <a:pt x="17929" y="1108484"/>
                    <a:pt x="0" y="1090555"/>
                    <a:pt x="0" y="1068439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1F564612-2ED2-1A9F-63A9-83C76A4211C0}"/>
                </a:ext>
              </a:extLst>
            </p:cNvPr>
            <p:cNvSpPr txBox="1"/>
            <p:nvPr/>
          </p:nvSpPr>
          <p:spPr>
            <a:xfrm>
              <a:off x="0" y="-38100"/>
              <a:ext cx="5091736" cy="11465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7">
            <a:extLst>
              <a:ext uri="{FF2B5EF4-FFF2-40B4-BE49-F238E27FC236}">
                <a16:creationId xmlns:a16="http://schemas.microsoft.com/office/drawing/2014/main" id="{9AC21968-43E2-AA4E-C427-51A25BE23B81}"/>
              </a:ext>
            </a:extLst>
          </p:cNvPr>
          <p:cNvGrpSpPr/>
          <p:nvPr/>
        </p:nvGrpSpPr>
        <p:grpSpPr>
          <a:xfrm>
            <a:off x="146050" y="1203526"/>
            <a:ext cx="149849" cy="614669"/>
            <a:chOff x="0" y="0"/>
            <a:chExt cx="62581" cy="242832"/>
          </a:xfrm>
        </p:grpSpPr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FE4E1E92-A8EA-83FA-58D4-E5CD5679DB1E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17593D83-CD57-89C6-FCF7-D22262DD4AB7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5" name="TextBox 11">
            <a:extLst>
              <a:ext uri="{FF2B5EF4-FFF2-40B4-BE49-F238E27FC236}">
                <a16:creationId xmlns:a16="http://schemas.microsoft.com/office/drawing/2014/main" id="{043FA6A9-3A58-C005-A8D5-2599BB38B6FF}"/>
              </a:ext>
            </a:extLst>
          </p:cNvPr>
          <p:cNvSpPr txBox="1"/>
          <p:nvPr/>
        </p:nvSpPr>
        <p:spPr>
          <a:xfrm>
            <a:off x="441949" y="1259224"/>
            <a:ext cx="7406652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Sistem</a:t>
            </a: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 Assessment (CMP)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50E63A5-004D-A4EF-C03B-19B32B85E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05163"/>
              </p:ext>
            </p:extLst>
          </p:nvPr>
        </p:nvGraphicFramePr>
        <p:xfrm>
          <a:off x="216356" y="2112219"/>
          <a:ext cx="11868150" cy="2339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150">
                  <a:extLst>
                    <a:ext uri="{9D8B030D-6E8A-4147-A177-3AD203B41FA5}">
                      <a16:colId xmlns:a16="http://schemas.microsoft.com/office/drawing/2014/main" val="2742400489"/>
                    </a:ext>
                  </a:extLst>
                </a:gridCol>
                <a:gridCol w="3540126">
                  <a:extLst>
                    <a:ext uri="{9D8B030D-6E8A-4147-A177-3AD203B41FA5}">
                      <a16:colId xmlns:a16="http://schemas.microsoft.com/office/drawing/2014/main" val="2108425896"/>
                    </a:ext>
                  </a:extLst>
                </a:gridCol>
                <a:gridCol w="2878138">
                  <a:extLst>
                    <a:ext uri="{9D8B030D-6E8A-4147-A177-3AD203B41FA5}">
                      <a16:colId xmlns:a16="http://schemas.microsoft.com/office/drawing/2014/main" val="3777837336"/>
                    </a:ext>
                  </a:extLst>
                </a:gridCol>
                <a:gridCol w="3233736">
                  <a:extLst>
                    <a:ext uri="{9D8B030D-6E8A-4147-A177-3AD203B41FA5}">
                      <a16:colId xmlns:a16="http://schemas.microsoft.com/office/drawing/2014/main" val="3503667798"/>
                    </a:ext>
                  </a:extLst>
                </a:gridCol>
              </a:tblGrid>
              <a:tr h="4590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Jenis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Kategori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Metode </a:t>
                      </a:r>
                      <a:r>
                        <a:rPr lang="en-US" sz="2400" dirty="0" err="1"/>
                        <a:t>Ujian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Penilaian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72431"/>
                  </a:ext>
                </a:extLst>
              </a:tr>
              <a:tr h="1016449">
                <a:tc>
                  <a:txBody>
                    <a:bodyPr/>
                    <a:lstStyle/>
                    <a:p>
                      <a:r>
                        <a:rPr lang="id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Assessment OJT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Assessment</a:t>
                      </a:r>
                      <a:r>
                        <a:rPr lang="id-ID" sz="1800" spc="-5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OJT</a:t>
                      </a:r>
                      <a:r>
                        <a:rPr lang="id-ID" sz="1800" spc="-5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en-US" sz="1800" spc="-5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                    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(perunit, </a:t>
                      </a:r>
                      <a:r>
                        <a:rPr lang="id-ID" sz="180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misal: Alkylation, RFCC </a:t>
                      </a:r>
                      <a:r>
                        <a:rPr lang="id-ID" sz="1800" spc="-2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NHT)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Ujian online (pilihan ganda, berdurasi, timer otomatis)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Otomatis oleh sistem berdasarkan passing grade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03516"/>
                  </a:ext>
                </a:extLst>
              </a:tr>
              <a:tr h="864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Assessment Proton</a:t>
                      </a:r>
                      <a:endParaRPr lang="en-US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Assessment</a:t>
                      </a:r>
                      <a:r>
                        <a:rPr lang="id-ID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Proton</a:t>
                      </a:r>
                      <a:r>
                        <a:rPr lang="id-ID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</a:t>
                      </a:r>
                      <a:r>
                        <a:rPr lang="en-US" sz="1800" spc="-6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                 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(per </a:t>
                      </a:r>
                      <a:r>
                        <a:rPr lang="id-ID" sz="180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track: Panelman / </a:t>
                      </a:r>
                      <a:r>
                        <a:rPr lang="id-ID" sz="1800" spc="-10" dirty="0">
                          <a:solidFill>
                            <a:srgbClr val="1A1A1A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Operator)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Tahun 1 &amp; 2: Ujian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online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Tahun 3: Interview offline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Tahun 1 &amp; 2: Otomatis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Tahun 3: Manual oleh HC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077837"/>
                  </a:ext>
                </a:extLst>
              </a:tr>
            </a:tbl>
          </a:graphicData>
        </a:graphic>
      </p:graphicFrame>
      <p:grpSp>
        <p:nvGrpSpPr>
          <p:cNvPr id="3075" name="Group 42"/>
          <p:cNvGrpSpPr>
            <a:grpSpLocks/>
          </p:cNvGrpSpPr>
          <p:nvPr/>
        </p:nvGrpSpPr>
        <p:grpSpPr bwMode="auto">
          <a:xfrm>
            <a:off x="0" y="409575"/>
            <a:ext cx="1190625" cy="838200"/>
            <a:chOff x="0" y="0"/>
            <a:chExt cx="11906" cy="8382"/>
          </a:xfrm>
        </p:grpSpPr>
      </p:grpSp>
      <p:grpSp>
        <p:nvGrpSpPr>
          <p:cNvPr id="3073" name="Group 45"/>
          <p:cNvGrpSpPr>
            <a:grpSpLocks/>
          </p:cNvGrpSpPr>
          <p:nvPr/>
        </p:nvGrpSpPr>
        <p:grpSpPr bwMode="auto">
          <a:xfrm>
            <a:off x="133350" y="-53975"/>
            <a:ext cx="923925" cy="428625"/>
            <a:chOff x="0" y="0"/>
            <a:chExt cx="9239" cy="4286"/>
          </a:xfrm>
        </p:grpSpPr>
      </p:grpSp>
    </p:spTree>
    <p:extLst>
      <p:ext uri="{BB962C8B-B14F-4D97-AF65-F5344CB8AC3E}">
        <p14:creationId xmlns:p14="http://schemas.microsoft.com/office/powerpoint/2010/main" val="398469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8470-8CA6-4A9C-501F-A23C1919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35794F-58AF-75E4-F957-0E7BB685EDA3}"/>
              </a:ext>
            </a:extLst>
          </p:cNvPr>
          <p:cNvSpPr/>
          <p:nvPr/>
        </p:nvSpPr>
        <p:spPr>
          <a:xfrm>
            <a:off x="-2" y="0"/>
            <a:ext cx="12192000" cy="7145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A2F9EC-D097-B29B-6330-D18C86A4694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20187"/>
            <a:ext cx="12191999" cy="965200"/>
          </a:xfrm>
          <a:prstGeom prst="rect">
            <a:avLst/>
          </a:prstGeom>
        </p:spPr>
      </p:pic>
      <p:grpSp>
        <p:nvGrpSpPr>
          <p:cNvPr id="5" name="Group 7">
            <a:extLst>
              <a:ext uri="{FF2B5EF4-FFF2-40B4-BE49-F238E27FC236}">
                <a16:creationId xmlns:a16="http://schemas.microsoft.com/office/drawing/2014/main" id="{745C70F0-1C98-3E68-7BED-A2F633879C14}"/>
              </a:ext>
            </a:extLst>
          </p:cNvPr>
          <p:cNvGrpSpPr/>
          <p:nvPr/>
        </p:nvGrpSpPr>
        <p:grpSpPr>
          <a:xfrm>
            <a:off x="146050" y="1103956"/>
            <a:ext cx="149849" cy="614669"/>
            <a:chOff x="0" y="0"/>
            <a:chExt cx="62581" cy="242832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07ACAAFE-9EAB-AB56-3730-C74F43593691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7EDE8F08-561F-26ED-BE01-92F744A983DB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CA05A801-71A9-3DB8-B3DC-AF0E64533515}"/>
              </a:ext>
            </a:extLst>
          </p:cNvPr>
          <p:cNvSpPr txBox="1"/>
          <p:nvPr/>
        </p:nvSpPr>
        <p:spPr>
          <a:xfrm>
            <a:off x="441949" y="1137529"/>
            <a:ext cx="7406652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Alur Assessment OJT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2027BD-B65E-3DB0-87F7-2F4D0F286EED}"/>
              </a:ext>
            </a:extLst>
          </p:cNvPr>
          <p:cNvSpPr/>
          <p:nvPr/>
        </p:nvSpPr>
        <p:spPr>
          <a:xfrm>
            <a:off x="1424779" y="2381693"/>
            <a:ext cx="2158410" cy="15310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BE6547-26DA-E02D-2D57-A23B0D3EC6F8}"/>
              </a:ext>
            </a:extLst>
          </p:cNvPr>
          <p:cNvSpPr/>
          <p:nvPr/>
        </p:nvSpPr>
        <p:spPr>
          <a:xfrm>
            <a:off x="4736821" y="2381693"/>
            <a:ext cx="2158410" cy="15310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C2DA43-D78D-0728-6B33-C188F91A2CC6}"/>
              </a:ext>
            </a:extLst>
          </p:cNvPr>
          <p:cNvSpPr/>
          <p:nvPr/>
        </p:nvSpPr>
        <p:spPr>
          <a:xfrm>
            <a:off x="8277463" y="2380512"/>
            <a:ext cx="2158410" cy="153108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7545743-B848-A8B0-D4A0-641CEEAB858A}"/>
              </a:ext>
            </a:extLst>
          </p:cNvPr>
          <p:cNvSpPr/>
          <p:nvPr/>
        </p:nvSpPr>
        <p:spPr>
          <a:xfrm>
            <a:off x="3742677" y="2784788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F177619-5533-0E3C-503A-E6DFFC99CFDB}"/>
              </a:ext>
            </a:extLst>
          </p:cNvPr>
          <p:cNvSpPr/>
          <p:nvPr/>
        </p:nvSpPr>
        <p:spPr>
          <a:xfrm>
            <a:off x="7194713" y="2784788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66">
            <a:extLst>
              <a:ext uri="{FF2B5EF4-FFF2-40B4-BE49-F238E27FC236}">
                <a16:creationId xmlns:a16="http://schemas.microsoft.com/office/drawing/2014/main" id="{528ADC74-4D91-8FD4-55C2-9269DBFA82DA}"/>
              </a:ext>
            </a:extLst>
          </p:cNvPr>
          <p:cNvSpPr txBox="1"/>
          <p:nvPr/>
        </p:nvSpPr>
        <p:spPr>
          <a:xfrm>
            <a:off x="1609961" y="2819996"/>
            <a:ext cx="1812852" cy="948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11430">
              <a:spcBef>
                <a:spcPts val="775"/>
              </a:spcBef>
              <a:buNone/>
            </a:pP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Persiapan</a:t>
            </a:r>
            <a:r>
              <a:rPr lang="id-ID" sz="1000" b="1" spc="-1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Data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950" spc="-2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</a:t>
            </a:r>
            <a:r>
              <a:rPr lang="id-ID" sz="950" spc="-2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2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kategori</a:t>
            </a:r>
            <a:r>
              <a:rPr lang="id-ID" sz="950" spc="-2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2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(Assessment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OJT → sub-kategori per unit), atur organisasi &amp; daftar pekerja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Textbox 68">
            <a:extLst>
              <a:ext uri="{FF2B5EF4-FFF2-40B4-BE49-F238E27FC236}">
                <a16:creationId xmlns:a16="http://schemas.microsoft.com/office/drawing/2014/main" id="{8333046F-0EB2-BA47-EA8E-E795C4C99C98}"/>
              </a:ext>
            </a:extLst>
          </p:cNvPr>
          <p:cNvSpPr txBox="1"/>
          <p:nvPr/>
        </p:nvSpPr>
        <p:spPr>
          <a:xfrm>
            <a:off x="4878938" y="2559050"/>
            <a:ext cx="2016293" cy="135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11430">
              <a:spcBef>
                <a:spcPts val="105"/>
              </a:spcBef>
              <a:buNone/>
            </a:pPr>
            <a:endParaRPr lang="en-US" sz="1100" spc="-25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spcBef>
                <a:spcPts val="105"/>
              </a:spcBef>
              <a:buNone/>
            </a:pPr>
            <a:r>
              <a:rPr lang="id-ID" sz="1000" b="1" spc="-3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</a:t>
            </a:r>
            <a:r>
              <a:rPr lang="id-ID" sz="1000" b="1" spc="-3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Assessment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" marR="11430">
              <a:spcBef>
                <a:spcPts val="625"/>
              </a:spcBef>
              <a:buNone/>
            </a:pP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Pilih</a:t>
            </a:r>
            <a:r>
              <a:rPr lang="id-ID" sz="950" spc="-5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kategori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" marR="11430">
              <a:spcBef>
                <a:spcPts val="285"/>
              </a:spcBef>
              <a:buNone/>
            </a:pPr>
            <a:r>
              <a:rPr lang="id-ID" sz="10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“Assessment</a:t>
            </a:r>
            <a:r>
              <a:rPr lang="id-ID" sz="1000" b="1" spc="7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2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OJT”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</a:t>
            </a:r>
            <a:r>
              <a:rPr lang="id-ID" sz="950" spc="-5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tentukan</a:t>
            </a:r>
            <a:r>
              <a:rPr lang="id-ID" sz="950" spc="-5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durasi,</a:t>
            </a:r>
            <a:r>
              <a:rPr lang="id-ID" sz="950" spc="-5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passing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grade, tanggal </a:t>
            </a:r>
            <a:r>
              <a:rPr lang="id-ID" sz="950" spc="-1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pelaksanaan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Textbox 70">
            <a:extLst>
              <a:ext uri="{FF2B5EF4-FFF2-40B4-BE49-F238E27FC236}">
                <a16:creationId xmlns:a16="http://schemas.microsoft.com/office/drawing/2014/main" id="{CEBFFE0A-3858-19CF-BEC9-ED886A023FA4}"/>
              </a:ext>
            </a:extLst>
          </p:cNvPr>
          <p:cNvSpPr txBox="1"/>
          <p:nvPr/>
        </p:nvSpPr>
        <p:spPr>
          <a:xfrm>
            <a:off x="8409483" y="2741133"/>
            <a:ext cx="1951074" cy="1170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indent="33655">
              <a:spcBef>
                <a:spcPts val="775"/>
              </a:spcBef>
              <a:buNone/>
            </a:pP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Kelola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Paket</a:t>
            </a:r>
            <a:r>
              <a:rPr lang="id-ID" sz="1000" b="1" spc="-6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Soal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4135" marR="0" indent="-64770">
              <a:lnSpc>
                <a:spcPts val="1400"/>
              </a:lnSpc>
              <a:spcBef>
                <a:spcPts val="315"/>
              </a:spcBef>
              <a:buNone/>
            </a:pPr>
            <a:r>
              <a:rPr lang="en-US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</a:t>
            </a:r>
            <a:r>
              <a:rPr lang="id-ID" sz="950" spc="-7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paket,</a:t>
            </a:r>
            <a:r>
              <a:rPr lang="id-ID" sz="950" spc="-6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import</a:t>
            </a:r>
            <a:r>
              <a:rPr lang="id-ID" sz="950" spc="-65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soal dari Excel,preview &amp; reshuffle urutan soal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078D5EF-6D33-6457-7CF2-EDB707BFA26A}"/>
              </a:ext>
            </a:extLst>
          </p:cNvPr>
          <p:cNvSpPr/>
          <p:nvPr/>
        </p:nvSpPr>
        <p:spPr>
          <a:xfrm>
            <a:off x="1353891" y="224553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E06E58E0-C61F-FCF5-FB67-87530ED5B202}"/>
              </a:ext>
            </a:extLst>
          </p:cNvPr>
          <p:cNvSpPr/>
          <p:nvPr/>
        </p:nvSpPr>
        <p:spPr>
          <a:xfrm>
            <a:off x="4538343" y="222479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399FFF5B-4A75-51DB-6346-C3F48C6F9A6F}"/>
              </a:ext>
            </a:extLst>
          </p:cNvPr>
          <p:cNvSpPr/>
          <p:nvPr/>
        </p:nvSpPr>
        <p:spPr>
          <a:xfrm>
            <a:off x="8232271" y="2224791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6A9857-70B3-2EC7-7B6A-C84F0025F963}"/>
              </a:ext>
            </a:extLst>
          </p:cNvPr>
          <p:cNvSpPr txBox="1"/>
          <p:nvPr/>
        </p:nvSpPr>
        <p:spPr>
          <a:xfrm>
            <a:off x="1804883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523B5D-BA38-A353-40DB-818CFF588C11}"/>
              </a:ext>
            </a:extLst>
          </p:cNvPr>
          <p:cNvSpPr txBox="1"/>
          <p:nvPr/>
        </p:nvSpPr>
        <p:spPr>
          <a:xfrm>
            <a:off x="5069978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68581-449B-9777-1A07-3A9298EE8F6F}"/>
              </a:ext>
            </a:extLst>
          </p:cNvPr>
          <p:cNvSpPr txBox="1"/>
          <p:nvPr/>
        </p:nvSpPr>
        <p:spPr>
          <a:xfrm>
            <a:off x="8681515" y="207599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5" name="Arrow: U-Turn 24">
            <a:extLst>
              <a:ext uri="{FF2B5EF4-FFF2-40B4-BE49-F238E27FC236}">
                <a16:creationId xmlns:a16="http://schemas.microsoft.com/office/drawing/2014/main" id="{4D4E3C6E-BEEA-2C19-D050-C0AE3119B6D0}"/>
              </a:ext>
            </a:extLst>
          </p:cNvPr>
          <p:cNvSpPr/>
          <p:nvPr/>
        </p:nvSpPr>
        <p:spPr>
          <a:xfrm rot="5400000">
            <a:off x="9945474" y="3636811"/>
            <a:ext cx="2593399" cy="1063255"/>
          </a:xfrm>
          <a:prstGeom prst="utur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E2A269C-4F29-2E09-F8DB-BDF7A4C38474}"/>
              </a:ext>
            </a:extLst>
          </p:cNvPr>
          <p:cNvSpPr/>
          <p:nvPr/>
        </p:nvSpPr>
        <p:spPr>
          <a:xfrm>
            <a:off x="8348351" y="4505529"/>
            <a:ext cx="2158410" cy="15310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0795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Distribusi </a:t>
            </a: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Token</a:t>
            </a:r>
            <a:endParaRPr lang="en-US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Berikan</a:t>
            </a:r>
            <a:r>
              <a:rPr lang="id-ID" sz="950" spc="-6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token</a:t>
            </a:r>
            <a:r>
              <a:rPr lang="id-ID" sz="95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akses</a:t>
            </a:r>
            <a:r>
              <a:rPr lang="id-ID" sz="95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 </a:t>
            </a: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kepada peserta yang</a:t>
            </a:r>
            <a:r>
              <a:rPr lang="en-US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950" dirty="0" err="1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ditunjuk</a:t>
            </a:r>
            <a:endParaRPr lang="en-US" sz="9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4AECE160-7897-9CC5-39CA-6206852F30BE}"/>
              </a:ext>
            </a:extLst>
          </p:cNvPr>
          <p:cNvSpPr/>
          <p:nvPr/>
        </p:nvSpPr>
        <p:spPr>
          <a:xfrm>
            <a:off x="10108922" y="4296606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668EA7-E0BF-EA8A-634D-0A8ECCE8457F}"/>
              </a:ext>
            </a:extLst>
          </p:cNvPr>
          <p:cNvSpPr txBox="1"/>
          <p:nvPr/>
        </p:nvSpPr>
        <p:spPr>
          <a:xfrm>
            <a:off x="8624798" y="4209345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64A2E84-4973-D8A5-8194-207D66B0D5C6}"/>
              </a:ext>
            </a:extLst>
          </p:cNvPr>
          <p:cNvSpPr/>
          <p:nvPr/>
        </p:nvSpPr>
        <p:spPr>
          <a:xfrm>
            <a:off x="4736821" y="4498076"/>
            <a:ext cx="2158410" cy="15310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Masukkan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Token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&amp;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Mulai</a:t>
            </a:r>
            <a:endParaRPr lang="en-US" sz="1000" b="1" spc="-10" dirty="0">
              <a:solidFill>
                <a:srgbClr val="1A1A1A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id-ID" sz="950" spc="-4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Buka</a:t>
            </a:r>
            <a:r>
              <a:rPr lang="id-ID" sz="950" spc="-3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4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CMP</a:t>
            </a:r>
            <a:r>
              <a:rPr lang="id-ID" sz="950" spc="-3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4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id-ID" sz="950" spc="-2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4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Assessment, </a:t>
            </a: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masukkan token, mulai</a:t>
            </a:r>
            <a:endParaRPr lang="en-US" sz="9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buNone/>
            </a:pP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</a:t>
            </a:r>
            <a:endParaRPr lang="en-US" sz="950" dirty="0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575AFB26-2A21-A201-318D-3B54D6305A0E}"/>
              </a:ext>
            </a:extLst>
          </p:cNvPr>
          <p:cNvSpPr/>
          <p:nvPr/>
        </p:nvSpPr>
        <p:spPr>
          <a:xfrm>
            <a:off x="6497392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C448F4-AF9B-5D8B-8B75-F4E70216D3D5}"/>
              </a:ext>
            </a:extLst>
          </p:cNvPr>
          <p:cNvSpPr txBox="1"/>
          <p:nvPr/>
        </p:nvSpPr>
        <p:spPr>
          <a:xfrm>
            <a:off x="5057598" y="4168438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15AF82-EA7B-721A-4BE9-58891D298A13}"/>
              </a:ext>
            </a:extLst>
          </p:cNvPr>
          <p:cNvSpPr/>
          <p:nvPr/>
        </p:nvSpPr>
        <p:spPr>
          <a:xfrm>
            <a:off x="1466867" y="4498076"/>
            <a:ext cx="2158410" cy="15310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69863" marR="0" indent="-169863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Kerjakan</a:t>
            </a: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</a:t>
            </a:r>
            <a:endParaRPr lang="en-US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Jawab</a:t>
            </a:r>
            <a:r>
              <a:rPr lang="id-ID" sz="95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soal</a:t>
            </a:r>
            <a:r>
              <a:rPr lang="id-ID" sz="95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pilihan</a:t>
            </a:r>
            <a:r>
              <a:rPr lang="id-ID" sz="95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ganda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(auto-save),</a:t>
            </a:r>
            <a:r>
              <a:rPr lang="id-ID" sz="950" spc="1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timer</a:t>
            </a:r>
            <a:r>
              <a:rPr lang="id-ID" sz="950" spc="2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berjalan</a:t>
            </a:r>
            <a:r>
              <a:rPr lang="en-US" sz="95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950" spc="-10" dirty="0" err="1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otomatis</a:t>
            </a:r>
            <a:endParaRPr lang="en-US" sz="9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0A05D044-CFB9-DDC1-AC75-FFE6D8795141}"/>
              </a:ext>
            </a:extLst>
          </p:cNvPr>
          <p:cNvSpPr/>
          <p:nvPr/>
        </p:nvSpPr>
        <p:spPr>
          <a:xfrm>
            <a:off x="3227438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DBFB04-B766-7C3F-9443-62E5F8B961AB}"/>
              </a:ext>
            </a:extLst>
          </p:cNvPr>
          <p:cNvSpPr txBox="1"/>
          <p:nvPr/>
        </p:nvSpPr>
        <p:spPr>
          <a:xfrm>
            <a:off x="1882218" y="4154717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B013CFBE-7A7C-E667-A355-96D3269215A9}"/>
              </a:ext>
            </a:extLst>
          </p:cNvPr>
          <p:cNvSpPr/>
          <p:nvPr/>
        </p:nvSpPr>
        <p:spPr>
          <a:xfrm rot="10800000">
            <a:off x="7194713" y="5019048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B1E69EA-A8AD-3B23-984E-A66C4694E060}"/>
              </a:ext>
            </a:extLst>
          </p:cNvPr>
          <p:cNvSpPr/>
          <p:nvPr/>
        </p:nvSpPr>
        <p:spPr>
          <a:xfrm rot="10800000">
            <a:off x="3777011" y="5019048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Bent 41">
            <a:extLst>
              <a:ext uri="{FF2B5EF4-FFF2-40B4-BE49-F238E27FC236}">
                <a16:creationId xmlns:a16="http://schemas.microsoft.com/office/drawing/2014/main" id="{E75C6163-4D31-616D-B3AA-06C6A2288473}"/>
              </a:ext>
            </a:extLst>
          </p:cNvPr>
          <p:cNvSpPr/>
          <p:nvPr/>
        </p:nvSpPr>
        <p:spPr>
          <a:xfrm rot="5400000" flipV="1">
            <a:off x="74070" y="5325684"/>
            <a:ext cx="1379335" cy="998688"/>
          </a:xfrm>
          <a:prstGeom prst="bentArrow">
            <a:avLst>
              <a:gd name="adj1" fmla="val 25000"/>
              <a:gd name="adj2" fmla="val 27117"/>
              <a:gd name="adj3" fmla="val 25000"/>
              <a:gd name="adj4" fmla="val 4375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TextBox 4">
            <a:extLst>
              <a:ext uri="{FF2B5EF4-FFF2-40B4-BE49-F238E27FC236}">
                <a16:creationId xmlns:a16="http://schemas.microsoft.com/office/drawing/2014/main" id="{99128F71-1870-8FF5-5ECC-06EEA43F8BC0}"/>
              </a:ext>
            </a:extLst>
          </p:cNvPr>
          <p:cNvSpPr txBox="1"/>
          <p:nvPr/>
        </p:nvSpPr>
        <p:spPr>
          <a:xfrm>
            <a:off x="0" y="5478665"/>
            <a:ext cx="12191999" cy="137933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Arrow: Striped Right 45">
            <a:extLst>
              <a:ext uri="{FF2B5EF4-FFF2-40B4-BE49-F238E27FC236}">
                <a16:creationId xmlns:a16="http://schemas.microsoft.com/office/drawing/2014/main" id="{959C96B4-F7DE-D4AD-6F8E-2358715137EB}"/>
              </a:ext>
            </a:extLst>
          </p:cNvPr>
          <p:cNvSpPr/>
          <p:nvPr/>
        </p:nvSpPr>
        <p:spPr>
          <a:xfrm>
            <a:off x="4974087" y="1099022"/>
            <a:ext cx="839972" cy="571932"/>
          </a:xfrm>
          <a:prstGeom prst="stripedRightArrow">
            <a:avLst/>
          </a:prstGeom>
          <a:gradFill>
            <a:gsLst>
              <a:gs pos="0">
                <a:srgbClr val="0589C2">
                  <a:alpha val="100000"/>
                </a:srgbClr>
              </a:gs>
              <a:gs pos="37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5821650-B46C-8A67-264D-F81028C56DC3}"/>
              </a:ext>
            </a:extLst>
          </p:cNvPr>
          <p:cNvSpPr/>
          <p:nvPr/>
        </p:nvSpPr>
        <p:spPr>
          <a:xfrm>
            <a:off x="5948383" y="963023"/>
            <a:ext cx="4799935" cy="72879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</a:t>
            </a:r>
            <a:r>
              <a:rPr lang="id-ID" sz="1800" spc="-5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berbasis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soal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pilihan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ganda</a:t>
            </a:r>
            <a:r>
              <a:rPr lang="id-ID" sz="1800" spc="-5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yang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dikerjakan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secara</a:t>
            </a:r>
            <a:r>
              <a:rPr lang="id-ID" sz="1800" spc="-5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online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89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7809-E037-C443-522B-CC89A059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6FD3D4-FEA8-FAE4-36EF-1543C77AE0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C5B24-432C-544C-F174-7908922F13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358855-1769-0009-117E-A40A2BD04E07}"/>
              </a:ext>
            </a:extLst>
          </p:cNvPr>
          <p:cNvSpPr/>
          <p:nvPr/>
        </p:nvSpPr>
        <p:spPr>
          <a:xfrm>
            <a:off x="446585" y="1722474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06730" marR="0" indent="-433705">
              <a:lnSpc>
                <a:spcPct val="130000"/>
              </a:lnSpc>
              <a:spcBef>
                <a:spcPts val="775"/>
              </a:spcBef>
              <a:buNone/>
            </a:pP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Monitoring</a:t>
            </a:r>
            <a:r>
              <a:rPr lang="id-ID" sz="1000" b="1" spc="-1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Real- </a:t>
            </a: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Time</a:t>
            </a:r>
            <a:endParaRPr lang="en-US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2388" marR="11430">
              <a:lnSpc>
                <a:spcPts val="1430"/>
              </a:lnSpc>
              <a:buNone/>
            </a:pPr>
            <a:r>
              <a:rPr lang="id-ID" sz="950" spc="-2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Pantau</a:t>
            </a:r>
            <a:r>
              <a:rPr lang="id-ID" sz="950" spc="-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2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progress</a:t>
            </a:r>
            <a:r>
              <a:rPr lang="id-ID" sz="950" spc="-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2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peserta,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bisa akhiri ujian manual jika perlu</a:t>
            </a:r>
            <a:endParaRPr lang="en-US" sz="950" dirty="0">
              <a:solidFill>
                <a:schemeClr val="accent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C23A6A9-B375-ACCB-9B72-FAA80978A3C9}"/>
              </a:ext>
            </a:extLst>
          </p:cNvPr>
          <p:cNvSpPr/>
          <p:nvPr/>
        </p:nvSpPr>
        <p:spPr>
          <a:xfrm>
            <a:off x="37569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CE76B-E0E1-29AE-EE6B-0FC747E3778D}"/>
              </a:ext>
            </a:extLst>
          </p:cNvPr>
          <p:cNvSpPr txBox="1"/>
          <p:nvPr/>
        </p:nvSpPr>
        <p:spPr>
          <a:xfrm>
            <a:off x="821386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1FD87E7-57A1-10E6-8685-496BFC4262E7}"/>
              </a:ext>
            </a:extLst>
          </p:cNvPr>
          <p:cNvSpPr/>
          <p:nvPr/>
        </p:nvSpPr>
        <p:spPr>
          <a:xfrm>
            <a:off x="4173315" y="1722474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Penilaian</a:t>
            </a:r>
            <a:r>
              <a:rPr lang="id-ID" sz="1000" b="1" spc="-1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Otomatis</a:t>
            </a:r>
            <a:endParaRPr lang="en-US" sz="1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Submit</a:t>
            </a:r>
            <a:r>
              <a:rPr lang="id-ID" sz="950" spc="-7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id-ID" sz="950" spc="-7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sistem</a:t>
            </a:r>
            <a:r>
              <a:rPr lang="id-ID" sz="950" spc="-65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hitung skor → bandingkan passing grade</a:t>
            </a:r>
            <a:endParaRPr lang="en-US" sz="950" dirty="0">
              <a:solidFill>
                <a:schemeClr val="accent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A6BB309B-1E32-40F7-EE54-8B3BB71BE18E}"/>
              </a:ext>
            </a:extLst>
          </p:cNvPr>
          <p:cNvSpPr/>
          <p:nvPr/>
        </p:nvSpPr>
        <p:spPr>
          <a:xfrm>
            <a:off x="410242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E9C11-D8DA-8823-C9A7-8C2D7F940D03}"/>
              </a:ext>
            </a:extLst>
          </p:cNvPr>
          <p:cNvSpPr txBox="1"/>
          <p:nvPr/>
        </p:nvSpPr>
        <p:spPr>
          <a:xfrm>
            <a:off x="4602158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Sistem</a:t>
            </a:r>
            <a:r>
              <a:rPr lang="en-US" sz="2000" b="1" dirty="0"/>
              <a:t>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6A2F76-9166-334C-F655-1595BA9970AB}"/>
              </a:ext>
            </a:extLst>
          </p:cNvPr>
          <p:cNvSpPr/>
          <p:nvPr/>
        </p:nvSpPr>
        <p:spPr>
          <a:xfrm>
            <a:off x="8112709" y="1722474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>
              <a:spcBef>
                <a:spcPts val="775"/>
              </a:spcBef>
              <a:buNone/>
            </a:pP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Hasil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&amp;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Sertifikat</a:t>
            </a:r>
            <a:r>
              <a:rPr lang="en-US" sz="1000" b="1" spc="-10" dirty="0">
                <a:latin typeface="Arial" panose="020B0604020202020204" pitchFamily="34" charset="0"/>
                <a:ea typeface="Arial" panose="020B0604020202020204" pitchFamily="34" charset="0"/>
              </a:rPr>
              <a:t>             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LULUS: unduh sertifikat PDF. TIDAK LULUS: Admin</a:t>
            </a:r>
            <a:endParaRPr lang="en-US" sz="950" dirty="0">
              <a:solidFill>
                <a:schemeClr val="accent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11430">
              <a:spcBef>
                <a:spcPts val="10"/>
              </a:spcBef>
              <a:buNone/>
            </a:pP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dapat</a:t>
            </a:r>
            <a:r>
              <a:rPr lang="id-ID" sz="950" spc="-5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reset untuk</a:t>
            </a:r>
            <a:r>
              <a:rPr lang="id-ID" sz="950" spc="-5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</a:t>
            </a:r>
            <a:r>
              <a:rPr lang="en-US" sz="950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chemeClr val="accent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ulang</a:t>
            </a:r>
            <a:endParaRPr lang="en-US" sz="950" dirty="0">
              <a:solidFill>
                <a:schemeClr val="accent2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77F3FBE-A593-45EB-D8E5-60A9AA471340}"/>
              </a:ext>
            </a:extLst>
          </p:cNvPr>
          <p:cNvSpPr/>
          <p:nvPr/>
        </p:nvSpPr>
        <p:spPr>
          <a:xfrm>
            <a:off x="8041821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9DAAC6-1A2E-B16A-BB03-8A61274508BF}"/>
              </a:ext>
            </a:extLst>
          </p:cNvPr>
          <p:cNvSpPr txBox="1"/>
          <p:nvPr/>
        </p:nvSpPr>
        <p:spPr>
          <a:xfrm>
            <a:off x="8506981" y="1415031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C56CAF6-4BF5-0FAF-BDA6-B35A29C1BCA3}"/>
              </a:ext>
            </a:extLst>
          </p:cNvPr>
          <p:cNvSpPr/>
          <p:nvPr/>
        </p:nvSpPr>
        <p:spPr>
          <a:xfrm>
            <a:off x="3051580" y="2264973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DE1BE40-296F-3E9D-41BC-3647E9F52C2B}"/>
              </a:ext>
            </a:extLst>
          </p:cNvPr>
          <p:cNvSpPr/>
          <p:nvPr/>
        </p:nvSpPr>
        <p:spPr>
          <a:xfrm>
            <a:off x="6818179" y="2322989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4DCD9D59-F82F-9D79-138D-1096AE574B07}"/>
              </a:ext>
            </a:extLst>
          </p:cNvPr>
          <p:cNvGrpSpPr/>
          <p:nvPr/>
        </p:nvGrpSpPr>
        <p:grpSpPr>
          <a:xfrm>
            <a:off x="0" y="6018028"/>
            <a:ext cx="12191999" cy="839972"/>
            <a:chOff x="0" y="0"/>
            <a:chExt cx="5091736" cy="1108484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F6141B65-6D89-92C3-0296-3F5A525FF085}"/>
                </a:ext>
              </a:extLst>
            </p:cNvPr>
            <p:cNvSpPr/>
            <p:nvPr/>
          </p:nvSpPr>
          <p:spPr>
            <a:xfrm>
              <a:off x="0" y="0"/>
              <a:ext cx="5091736" cy="1108484"/>
            </a:xfrm>
            <a:custGeom>
              <a:avLst/>
              <a:gdLst/>
              <a:ahLst/>
              <a:cxnLst/>
              <a:rect l="l" t="t" r="r" b="b"/>
              <a:pathLst>
                <a:path w="5091736" h="1108484">
                  <a:moveTo>
                    <a:pt x="40046" y="0"/>
                  </a:moveTo>
                  <a:lnTo>
                    <a:pt x="5051690" y="0"/>
                  </a:lnTo>
                  <a:cubicBezTo>
                    <a:pt x="5073807" y="0"/>
                    <a:pt x="5091736" y="17929"/>
                    <a:pt x="5091736" y="40046"/>
                  </a:cubicBezTo>
                  <a:lnTo>
                    <a:pt x="5091736" y="1068439"/>
                  </a:lnTo>
                  <a:cubicBezTo>
                    <a:pt x="5091736" y="1090555"/>
                    <a:pt x="5073807" y="1108484"/>
                    <a:pt x="5051690" y="1108484"/>
                  </a:cubicBezTo>
                  <a:lnTo>
                    <a:pt x="40046" y="1108484"/>
                  </a:lnTo>
                  <a:cubicBezTo>
                    <a:pt x="17929" y="1108484"/>
                    <a:pt x="0" y="1090555"/>
                    <a:pt x="0" y="1068439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994D1471-58A4-42B2-ABD5-1052FB1910B0}"/>
                </a:ext>
              </a:extLst>
            </p:cNvPr>
            <p:cNvSpPr txBox="1"/>
            <p:nvPr/>
          </p:nvSpPr>
          <p:spPr>
            <a:xfrm>
              <a:off x="0" y="-38100"/>
              <a:ext cx="5091736" cy="114658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937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8997-19DF-6EDB-DF4A-8FD8B90A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74DC6A-AFB0-9DDF-BAAD-F33DE552E9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EC5C1-1BE8-7BD9-FB29-66CB0BA042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33141F74-EE74-350D-C6F1-A4B3742EF7DD}"/>
              </a:ext>
            </a:extLst>
          </p:cNvPr>
          <p:cNvGrpSpPr/>
          <p:nvPr/>
        </p:nvGrpSpPr>
        <p:grpSpPr>
          <a:xfrm>
            <a:off x="73025" y="1044295"/>
            <a:ext cx="187525" cy="79528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CFDDA83C-53F4-DCB0-B8E0-95D8E07FF41C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25A33B26-A246-5E0C-B79E-FBF6AB12A943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7ADD8162-6202-46D0-3DA8-F23D8D457A97}"/>
              </a:ext>
            </a:extLst>
          </p:cNvPr>
          <p:cNvSpPr txBox="1"/>
          <p:nvPr/>
        </p:nvSpPr>
        <p:spPr>
          <a:xfrm>
            <a:off x="333575" y="1137529"/>
            <a:ext cx="4374600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Assessment Proton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01F034-D889-B875-C48E-AE2D768B5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678960"/>
              </p:ext>
            </p:extLst>
          </p:nvPr>
        </p:nvGraphicFramePr>
        <p:xfrm>
          <a:off x="389322" y="2511389"/>
          <a:ext cx="11413353" cy="312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799">
                  <a:extLst>
                    <a:ext uri="{9D8B030D-6E8A-4147-A177-3AD203B41FA5}">
                      <a16:colId xmlns:a16="http://schemas.microsoft.com/office/drawing/2014/main" val="1268939484"/>
                    </a:ext>
                  </a:extLst>
                </a:gridCol>
                <a:gridCol w="2707302">
                  <a:extLst>
                    <a:ext uri="{9D8B030D-6E8A-4147-A177-3AD203B41FA5}">
                      <a16:colId xmlns:a16="http://schemas.microsoft.com/office/drawing/2014/main" val="344043653"/>
                    </a:ext>
                  </a:extLst>
                </a:gridCol>
                <a:gridCol w="2405739">
                  <a:extLst>
                    <a:ext uri="{9D8B030D-6E8A-4147-A177-3AD203B41FA5}">
                      <a16:colId xmlns:a16="http://schemas.microsoft.com/office/drawing/2014/main" val="1489971227"/>
                    </a:ext>
                  </a:extLst>
                </a:gridCol>
                <a:gridCol w="4464513">
                  <a:extLst>
                    <a:ext uri="{9D8B030D-6E8A-4147-A177-3AD203B41FA5}">
                      <a16:colId xmlns:a16="http://schemas.microsoft.com/office/drawing/2014/main" val="900618605"/>
                    </a:ext>
                  </a:extLst>
                </a:gridCol>
              </a:tblGrid>
              <a:tr h="35410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Aspek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22480"/>
                  </a:ext>
                </a:extLst>
              </a:tr>
              <a:tr h="49477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j-lt"/>
                        </a:rPr>
                        <a:t>Panelman</a:t>
                      </a:r>
                      <a:r>
                        <a:rPr lang="en-US" sz="1400" dirty="0">
                          <a:latin typeface="+mj-lt"/>
                        </a:rPr>
                        <a:t> /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j-lt"/>
                        </a:rPr>
                        <a:t>Panelman</a:t>
                      </a:r>
                      <a:r>
                        <a:rPr lang="en-US" sz="1400" dirty="0">
                          <a:latin typeface="+mj-lt"/>
                        </a:rPr>
                        <a:t>/</a:t>
                      </a:r>
                    </a:p>
                    <a:p>
                      <a:r>
                        <a:rPr lang="en-US" sz="1400" dirty="0">
                          <a:latin typeface="+mj-lt"/>
                        </a:rPr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Panelman</a:t>
                      </a:r>
                      <a:r>
                        <a:rPr lang="id-ID" sz="1400" spc="-6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Operator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04843786"/>
                  </a:ext>
                </a:extLst>
              </a:tr>
              <a:tr h="3541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Metode </a:t>
                      </a:r>
                      <a:r>
                        <a:rPr lang="en-US" sz="1400" b="1" dirty="0" err="1">
                          <a:latin typeface="+mj-lt"/>
                        </a:rPr>
                        <a:t>Ujian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j-lt"/>
                        </a:rPr>
                        <a:t>Ujian</a:t>
                      </a:r>
                      <a:r>
                        <a:rPr lang="en-US" sz="1400" dirty="0">
                          <a:latin typeface="+mj-lt"/>
                        </a:rPr>
                        <a:t> Online (</a:t>
                      </a:r>
                      <a:r>
                        <a:rPr lang="en-US" sz="1400" dirty="0" err="1">
                          <a:latin typeface="+mj-lt"/>
                        </a:rPr>
                        <a:t>Pilihan</a:t>
                      </a:r>
                      <a:r>
                        <a:rPr lang="en-US" sz="1400" dirty="0">
                          <a:latin typeface="+mj-lt"/>
                        </a:rPr>
                        <a:t> </a:t>
                      </a:r>
                      <a:r>
                        <a:rPr lang="en-US" sz="1400" dirty="0" err="1">
                          <a:latin typeface="+mj-lt"/>
                        </a:rPr>
                        <a:t>ganda</a:t>
                      </a:r>
                      <a:r>
                        <a:rPr lang="en-US" sz="1400" dirty="0">
                          <a:latin typeface="+mj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8430" marR="314325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Ujian online (pilihan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ganda)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 marR="0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Tidak ada ujian online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— interview offline tatap muka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80286923"/>
                  </a:ext>
                </a:extLst>
              </a:tr>
              <a:tr h="55334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Durasi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j-lt"/>
                        </a:rPr>
                        <a:t>Ditentukan</a:t>
                      </a:r>
                      <a:r>
                        <a:rPr lang="en-US" sz="1400" dirty="0">
                          <a:latin typeface="+mj-lt"/>
                        </a:rPr>
                        <a:t> Admin (</a:t>
                      </a:r>
                      <a:r>
                        <a:rPr lang="en-US" sz="1400" dirty="0" err="1">
                          <a:latin typeface="+mj-lt"/>
                        </a:rPr>
                        <a:t>Dalam</a:t>
                      </a:r>
                      <a:r>
                        <a:rPr lang="en-US" sz="1400" dirty="0">
                          <a:latin typeface="+mj-lt"/>
                        </a:rPr>
                        <a:t> </a:t>
                      </a:r>
                      <a:r>
                        <a:rPr lang="en-US" sz="1400" dirty="0" err="1">
                          <a:latin typeface="+mj-lt"/>
                        </a:rPr>
                        <a:t>Menit</a:t>
                      </a:r>
                      <a:r>
                        <a:rPr lang="en-US" sz="1400" dirty="0">
                          <a:latin typeface="+mj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8430" marR="4445">
                        <a:lnSpc>
                          <a:spcPct val="142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Ditentukan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Admin (dalam menit)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ada</a:t>
                      </a:r>
                      <a:r>
                        <a:rPr lang="id-ID" sz="1400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(durasi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id-ID" sz="1400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0)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34963149"/>
                  </a:ext>
                </a:extLst>
              </a:tr>
              <a:tr h="3541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+mj-lt"/>
                        </a:rPr>
                        <a:t>Paket Soal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Import </a:t>
                      </a:r>
                      <a:r>
                        <a:rPr lang="en-US" sz="1400" dirty="0" err="1">
                          <a:latin typeface="+mj-lt"/>
                        </a:rPr>
                        <a:t>soal</a:t>
                      </a:r>
                      <a:r>
                        <a:rPr lang="en-US" sz="1400" dirty="0">
                          <a:latin typeface="+mj-lt"/>
                        </a:rPr>
                        <a:t> </a:t>
                      </a:r>
                      <a:r>
                        <a:rPr lang="en-US" sz="1400" dirty="0" err="1">
                          <a:latin typeface="+mj-lt"/>
                        </a:rPr>
                        <a:t>dari</a:t>
                      </a:r>
                      <a:r>
                        <a:rPr lang="en-US" sz="1400" dirty="0">
                          <a:latin typeface="+mj-lt"/>
                        </a:rPr>
                        <a:t> 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8430" marR="4445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Import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soal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dari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Excel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id-ID" sz="1400" b="1" spc="-2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perlu</a:t>
                      </a:r>
                      <a:r>
                        <a:rPr lang="id-ID" sz="1400" b="1" spc="-2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paket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soal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2502907"/>
                  </a:ext>
                </a:extLst>
              </a:tr>
              <a:tr h="354100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Penilaian</a:t>
                      </a:r>
                      <a:endParaRPr lang="en-US" sz="14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+mj-lt"/>
                        </a:rPr>
                        <a:t>Otomatis</a:t>
                      </a:r>
                      <a:r>
                        <a:rPr lang="en-US" sz="1400" dirty="0">
                          <a:latin typeface="+mj-lt"/>
                        </a:rPr>
                        <a:t> oleh </a:t>
                      </a:r>
                      <a:r>
                        <a:rPr lang="en-US" sz="1400" dirty="0" err="1">
                          <a:latin typeface="+mj-lt"/>
                        </a:rPr>
                        <a:t>sistem</a:t>
                      </a:r>
                      <a:endParaRPr lang="en-US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8430" marR="314325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Otomatis</a:t>
                      </a:r>
                      <a:r>
                        <a:rPr lang="id-ID" sz="1400" spc="-7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oleh </a:t>
                      </a:r>
                      <a:r>
                        <a:rPr lang="id-ID" sz="1400" spc="-1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sistem</a:t>
                      </a:r>
                      <a:endParaRPr lang="en-US" sz="140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 marR="0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Manual</a:t>
                      </a:r>
                      <a:r>
                        <a:rPr lang="id-ID" sz="1400" b="1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oleh</a:t>
                      </a:r>
                      <a:r>
                        <a:rPr lang="id-ID" sz="1400" b="1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HC</a:t>
                      </a:r>
                      <a:r>
                        <a:rPr lang="id-ID" sz="1400" b="1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(input</a:t>
                      </a:r>
                      <a:r>
                        <a:rPr lang="id-ID" sz="1400" spc="-4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hasil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interview)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56392688"/>
                  </a:ext>
                </a:extLst>
              </a:tr>
              <a:tr h="567651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+mj-lt"/>
                        </a:rPr>
                        <a:t>Komponen</a:t>
                      </a:r>
                      <a:r>
                        <a:rPr lang="en-US" sz="1400" b="1" dirty="0">
                          <a:latin typeface="+mj-lt"/>
                        </a:rPr>
                        <a:t> Interview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Tidak </a:t>
                      </a:r>
                      <a:r>
                        <a:rPr lang="en-US" sz="1400" dirty="0" err="1">
                          <a:latin typeface="+mj-lt"/>
                        </a:rPr>
                        <a:t>ada</a:t>
                      </a:r>
                      <a:endParaRPr lang="en-US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400" spc="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id-ID" sz="1400" spc="-5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ada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8430" marR="461645">
                        <a:lnSpc>
                          <a:spcPct val="146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Penilaian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oleh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panel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juri: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 aspek</a:t>
                      </a:r>
                      <a:r>
                        <a:rPr lang="id-ID" sz="1400" spc="-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(skor</a:t>
                      </a:r>
                      <a:r>
                        <a:rPr lang="id-ID" sz="1400" spc="-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1-5),</a:t>
                      </a:r>
                      <a:r>
                        <a:rPr lang="id-ID" sz="1400" spc="-5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catatan, keputusan lulus/tidak</a:t>
                      </a:r>
                      <a:endParaRPr lang="en-US" sz="1400" dirty="0">
                        <a:effectLst/>
                        <a:latin typeface="+mj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06844774"/>
                  </a:ext>
                </a:extLst>
              </a:tr>
            </a:tbl>
          </a:graphicData>
        </a:graphic>
      </p:graphicFrame>
      <p:sp>
        <p:nvSpPr>
          <p:cNvPr id="9" name="Freeform 3">
            <a:extLst>
              <a:ext uri="{FF2B5EF4-FFF2-40B4-BE49-F238E27FC236}">
                <a16:creationId xmlns:a16="http://schemas.microsoft.com/office/drawing/2014/main" id="{EC76214D-96E9-ECAC-28DE-285CF8155CF3}"/>
              </a:ext>
            </a:extLst>
          </p:cNvPr>
          <p:cNvSpPr/>
          <p:nvPr/>
        </p:nvSpPr>
        <p:spPr>
          <a:xfrm>
            <a:off x="0" y="6146890"/>
            <a:ext cx="12191999" cy="711110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AE1EDD63-3B11-ADC4-161B-DE1D1D69A26B}"/>
              </a:ext>
            </a:extLst>
          </p:cNvPr>
          <p:cNvSpPr/>
          <p:nvPr/>
        </p:nvSpPr>
        <p:spPr>
          <a:xfrm>
            <a:off x="4500082" y="1171103"/>
            <a:ext cx="839972" cy="571932"/>
          </a:xfrm>
          <a:prstGeom prst="stripedRightArrow">
            <a:avLst/>
          </a:prstGeom>
          <a:gradFill>
            <a:gsLst>
              <a:gs pos="0">
                <a:srgbClr val="0589C2">
                  <a:alpha val="100000"/>
                </a:srgbClr>
              </a:gs>
              <a:gs pos="37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97675F-4EB7-A2C3-DE08-604CA00C7F3B}"/>
              </a:ext>
            </a:extLst>
          </p:cNvPr>
          <p:cNvSpPr/>
          <p:nvPr/>
        </p:nvSpPr>
        <p:spPr>
          <a:xfrm>
            <a:off x="5416670" y="984635"/>
            <a:ext cx="6575305" cy="9146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5565" marR="134620">
              <a:lnSpc>
                <a:spcPct val="147000"/>
              </a:lnSpc>
              <a:spcBef>
                <a:spcPts val="1065"/>
              </a:spcBef>
              <a:buNone/>
            </a:pP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assessment</a:t>
            </a:r>
            <a:r>
              <a:rPr lang="id-ID" sz="1800" spc="-7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di-assign</a:t>
            </a:r>
            <a:r>
              <a:rPr lang="id-ID" sz="1800" spc="-7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</a:t>
            </a:r>
            <a:r>
              <a:rPr lang="id-ID" sz="1800" spc="-8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track tertentu (Panelman/Operator) dan tahun tertentu (Tahun 1, 2, atau 3)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77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2155-974C-7A91-9808-7D8B1749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B0E2F6-EDB2-E299-18EA-25BB0FA508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1A1805CD-D509-47E8-58F1-7ED41621B207}"/>
              </a:ext>
            </a:extLst>
          </p:cNvPr>
          <p:cNvGrpSpPr/>
          <p:nvPr/>
        </p:nvGrpSpPr>
        <p:grpSpPr>
          <a:xfrm>
            <a:off x="74092" y="1044442"/>
            <a:ext cx="149849" cy="61466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5F8A2D97-02C1-2AD5-B325-D20F356B60CD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A4DAA5F8-A8B7-6F92-7406-8E777EADF14F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84776ED8-6D92-E781-B8F6-0576A65F8B65}"/>
              </a:ext>
            </a:extLst>
          </p:cNvPr>
          <p:cNvSpPr txBox="1"/>
          <p:nvPr/>
        </p:nvSpPr>
        <p:spPr>
          <a:xfrm>
            <a:off x="267948" y="1044442"/>
            <a:ext cx="11998144" cy="571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Alur Assessment Proton - </a:t>
            </a: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Tahun</a:t>
            </a: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 1&amp;2 (</a:t>
            </a: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Ujian</a:t>
            </a: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 Online)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DCD9EF-AB58-C900-DB03-551C9C2B94A2}"/>
              </a:ext>
            </a:extLst>
          </p:cNvPr>
          <p:cNvSpPr/>
          <p:nvPr/>
        </p:nvSpPr>
        <p:spPr>
          <a:xfrm>
            <a:off x="1063263" y="2073352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967B39-0C1D-C343-A315-244BA8A41025}"/>
              </a:ext>
            </a:extLst>
          </p:cNvPr>
          <p:cNvSpPr/>
          <p:nvPr/>
        </p:nvSpPr>
        <p:spPr>
          <a:xfrm>
            <a:off x="4375305" y="2073352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4AD99D-DFAC-58A4-1323-C4B8E78A4D80}"/>
              </a:ext>
            </a:extLst>
          </p:cNvPr>
          <p:cNvSpPr/>
          <p:nvPr/>
        </p:nvSpPr>
        <p:spPr>
          <a:xfrm>
            <a:off x="7915947" y="2072171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8EBF76-D38C-83AD-7C3C-3A614DCA8717}"/>
              </a:ext>
            </a:extLst>
          </p:cNvPr>
          <p:cNvSpPr/>
          <p:nvPr/>
        </p:nvSpPr>
        <p:spPr>
          <a:xfrm>
            <a:off x="3381161" y="2476447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6721F22-DB4A-F2D1-8867-DBC40FA3DA16}"/>
              </a:ext>
            </a:extLst>
          </p:cNvPr>
          <p:cNvSpPr/>
          <p:nvPr/>
        </p:nvSpPr>
        <p:spPr>
          <a:xfrm>
            <a:off x="6833197" y="2476447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39E38F3F-BC6A-405E-B8E8-D1FD65EB9824}"/>
              </a:ext>
            </a:extLst>
          </p:cNvPr>
          <p:cNvSpPr txBox="1"/>
          <p:nvPr/>
        </p:nvSpPr>
        <p:spPr>
          <a:xfrm>
            <a:off x="1018960" y="2529300"/>
            <a:ext cx="2331191" cy="948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7475" marR="0" lvl="1">
              <a:spcBef>
                <a:spcPts val="775"/>
              </a:spcBef>
              <a:buClr>
                <a:srgbClr val="1A1A1A"/>
              </a:buClr>
              <a:buSzPts val="1000"/>
              <a:tabLst>
                <a:tab pos="683895" algn="l"/>
              </a:tabLst>
            </a:pPr>
            <a:r>
              <a:rPr lang="id-ID" sz="1000" b="1" spc="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</a:t>
            </a: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Assessment</a:t>
            </a:r>
            <a:r>
              <a:rPr lang="en-US" sz="1100" b="1" dirty="0">
                <a:latin typeface="Arial" panose="020B0604020202020204" pitchFamily="34" charset="0"/>
                <a:ea typeface="Arial" panose="020B0604020202020204" pitchFamily="34" charset="0"/>
              </a:rPr>
              <a:t>                         </a:t>
            </a:r>
            <a:r>
              <a:rPr lang="id-ID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Pilih</a:t>
            </a:r>
            <a:r>
              <a:rPr lang="id-ID" sz="950" spc="-5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kategori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7475" marR="0">
              <a:spcBef>
                <a:spcPts val="285"/>
              </a:spcBef>
              <a:buNone/>
            </a:pPr>
            <a:r>
              <a:rPr lang="id-ID" sz="10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“Assessment</a:t>
            </a:r>
            <a:r>
              <a:rPr lang="id-ID" sz="1000" spc="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Proton”</a:t>
            </a:r>
            <a:r>
              <a:rPr lang="en-US" sz="1100" spc="-10" dirty="0">
                <a:latin typeface="Arial" panose="020B0604020202020204" pitchFamily="34" charset="0"/>
                <a:ea typeface="Arial" panose="020B0604020202020204" pitchFamily="34" charset="0"/>
              </a:rPr>
              <a:t>                            </a:t>
            </a:r>
            <a:r>
              <a:rPr lang="id-ID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pilih track (misal: Operator</a:t>
            </a:r>
            <a:r>
              <a:rPr lang="id-ID" sz="950" spc="-7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</a:t>
            </a:r>
            <a:r>
              <a:rPr lang="id-ID" sz="950" spc="-6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id-ID" sz="950" spc="-6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95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1)</a:t>
            </a: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Textbox 68">
            <a:extLst>
              <a:ext uri="{FF2B5EF4-FFF2-40B4-BE49-F238E27FC236}">
                <a16:creationId xmlns:a16="http://schemas.microsoft.com/office/drawing/2014/main" id="{C84B5735-DA76-C8CF-A7D4-E8EE8579FFF2}"/>
              </a:ext>
            </a:extLst>
          </p:cNvPr>
          <p:cNvSpPr txBox="1"/>
          <p:nvPr/>
        </p:nvSpPr>
        <p:spPr>
          <a:xfrm>
            <a:off x="4503073" y="2347351"/>
            <a:ext cx="2016293" cy="135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11430">
              <a:spcBef>
                <a:spcPts val="105"/>
              </a:spcBef>
              <a:buNone/>
            </a:pPr>
            <a:endParaRPr lang="en-US" sz="1100" spc="-25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spcBef>
                <a:spcPts val="105"/>
              </a:spcBef>
              <a:buNone/>
            </a:pPr>
            <a:r>
              <a:rPr lang="sv-SE" sz="1000" b="1" spc="-3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Kelola Paket Soal</a:t>
            </a:r>
          </a:p>
          <a:p>
            <a:pPr marL="0" marR="11430">
              <a:spcBef>
                <a:spcPts val="105"/>
              </a:spcBef>
              <a:buNone/>
            </a:pPr>
            <a:r>
              <a:rPr lang="sv-SE" sz="1000" spc="-35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 paket, import soal dari Excel, atur durasi &amp; passing grade</a:t>
            </a: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C682660D-97B1-E127-5FA0-E8F2764561A2}"/>
              </a:ext>
            </a:extLst>
          </p:cNvPr>
          <p:cNvSpPr txBox="1"/>
          <p:nvPr/>
        </p:nvSpPr>
        <p:spPr>
          <a:xfrm>
            <a:off x="8086104" y="2287366"/>
            <a:ext cx="2607590" cy="15951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indent="33655">
              <a:spcBef>
                <a:spcPts val="775"/>
              </a:spcBef>
              <a:buNone/>
            </a:pP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000" b="1" spc="-70" dirty="0">
              <a:solidFill>
                <a:srgbClr val="1A1A1A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33655">
              <a:spcBef>
                <a:spcPts val="775"/>
              </a:spcBef>
              <a:buNone/>
            </a:pP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Distribusi Token</a:t>
            </a:r>
            <a:r>
              <a:rPr lang="en-US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Berikan token kepada pekerja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               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yang di-assign ke track tersebut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AEF58DC7-8F9D-1978-65ED-14F8E8F5B9D6}"/>
              </a:ext>
            </a:extLst>
          </p:cNvPr>
          <p:cNvSpPr/>
          <p:nvPr/>
        </p:nvSpPr>
        <p:spPr>
          <a:xfrm>
            <a:off x="992375" y="1937191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AD2FF6EA-A10C-6FCF-BC97-342C05BE5529}"/>
              </a:ext>
            </a:extLst>
          </p:cNvPr>
          <p:cNvSpPr/>
          <p:nvPr/>
        </p:nvSpPr>
        <p:spPr>
          <a:xfrm>
            <a:off x="4176827" y="1916451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5B31E512-868B-BC00-B27B-563CBDE40388}"/>
              </a:ext>
            </a:extLst>
          </p:cNvPr>
          <p:cNvSpPr/>
          <p:nvPr/>
        </p:nvSpPr>
        <p:spPr>
          <a:xfrm>
            <a:off x="7870755" y="1916450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EA086-F3C0-88C5-68AA-08CF4583F4CA}"/>
              </a:ext>
            </a:extLst>
          </p:cNvPr>
          <p:cNvSpPr txBox="1"/>
          <p:nvPr/>
        </p:nvSpPr>
        <p:spPr>
          <a:xfrm>
            <a:off x="1443367" y="1776311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0FEAAB-C3BA-BEC5-970B-7DCCE41A6968}"/>
              </a:ext>
            </a:extLst>
          </p:cNvPr>
          <p:cNvSpPr txBox="1"/>
          <p:nvPr/>
        </p:nvSpPr>
        <p:spPr>
          <a:xfrm>
            <a:off x="4708462" y="1776311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64267-D9BB-EFD4-07B6-104880901D46}"/>
              </a:ext>
            </a:extLst>
          </p:cNvPr>
          <p:cNvSpPr txBox="1"/>
          <p:nvPr/>
        </p:nvSpPr>
        <p:spPr>
          <a:xfrm>
            <a:off x="8319999" y="1767655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2" name="Arrow: U-Turn 21">
            <a:extLst>
              <a:ext uri="{FF2B5EF4-FFF2-40B4-BE49-F238E27FC236}">
                <a16:creationId xmlns:a16="http://schemas.microsoft.com/office/drawing/2014/main" id="{B6C1622F-F475-6854-D102-DCADADEE5CDB}"/>
              </a:ext>
            </a:extLst>
          </p:cNvPr>
          <p:cNvSpPr/>
          <p:nvPr/>
        </p:nvSpPr>
        <p:spPr>
          <a:xfrm rot="5400000">
            <a:off x="9583958" y="3328470"/>
            <a:ext cx="2593399" cy="1063255"/>
          </a:xfrm>
          <a:prstGeom prst="utur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226AD0-7F56-B710-9A93-C729358F7B1F}"/>
              </a:ext>
            </a:extLst>
          </p:cNvPr>
          <p:cNvSpPr/>
          <p:nvPr/>
        </p:nvSpPr>
        <p:spPr>
          <a:xfrm>
            <a:off x="7986835" y="4197188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0795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Kerjakan Ujian Online</a:t>
            </a:r>
            <a:r>
              <a:rPr lang="en-US" sz="1000" b="1" spc="-1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Masukkan token →</a:t>
            </a:r>
            <a:r>
              <a:rPr lang="en-US" sz="1000" spc="-1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kerjakan soal pilihan ganda</a:t>
            </a:r>
            <a:r>
              <a:rPr lang="en-US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 submit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4C35B162-CB51-6ADF-D66A-493CB0210451}"/>
              </a:ext>
            </a:extLst>
          </p:cNvPr>
          <p:cNvSpPr/>
          <p:nvPr/>
        </p:nvSpPr>
        <p:spPr>
          <a:xfrm>
            <a:off x="9747406" y="3988265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958F96-5519-2685-1085-73537BA41074}"/>
              </a:ext>
            </a:extLst>
          </p:cNvPr>
          <p:cNvSpPr txBox="1"/>
          <p:nvPr/>
        </p:nvSpPr>
        <p:spPr>
          <a:xfrm>
            <a:off x="8709886" y="3859721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6629DE-29E1-61C8-0222-AE9052698FC7}"/>
              </a:ext>
            </a:extLst>
          </p:cNvPr>
          <p:cNvSpPr/>
          <p:nvPr/>
        </p:nvSpPr>
        <p:spPr>
          <a:xfrm>
            <a:off x="4375305" y="4189735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v-SE" sz="1000" b="1" dirty="0">
              <a:solidFill>
                <a:srgbClr val="1A1A1A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sv-SE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Penilaian Otomatis</a:t>
            </a:r>
          </a:p>
          <a:p>
            <a:r>
              <a:rPr lang="sv-SE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Sistem hitung skor, bandingkan passing grade</a:t>
            </a:r>
          </a:p>
          <a:p>
            <a:pPr>
              <a:buNone/>
            </a:pPr>
            <a:endParaRPr lang="en-US" sz="950" dirty="0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7373ADB3-E38A-623D-15BC-2852013A2CFD}"/>
              </a:ext>
            </a:extLst>
          </p:cNvPr>
          <p:cNvSpPr/>
          <p:nvPr/>
        </p:nvSpPr>
        <p:spPr>
          <a:xfrm>
            <a:off x="6135876" y="398081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DA3C2D-B62F-41A7-834E-3F07715C92CE}"/>
              </a:ext>
            </a:extLst>
          </p:cNvPr>
          <p:cNvSpPr txBox="1"/>
          <p:nvPr/>
        </p:nvSpPr>
        <p:spPr>
          <a:xfrm>
            <a:off x="4696082" y="3860097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Sistem</a:t>
            </a:r>
            <a:endParaRPr lang="en-US" sz="2000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AE6A964-0D6C-DF3A-DF79-CC8982BB145B}"/>
              </a:ext>
            </a:extLst>
          </p:cNvPr>
          <p:cNvSpPr/>
          <p:nvPr/>
        </p:nvSpPr>
        <p:spPr>
          <a:xfrm>
            <a:off x="1105351" y="4189735"/>
            <a:ext cx="2158410" cy="153108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Hasil &amp; Sertifikat</a:t>
            </a:r>
            <a:r>
              <a:rPr lang="en-US" sz="100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Lihat hasil, unduh sertifika</a:t>
            </a:r>
            <a:r>
              <a:rPr lang="en-US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 lulus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447E106-4CE1-2B3B-361F-43B54207D90D}"/>
              </a:ext>
            </a:extLst>
          </p:cNvPr>
          <p:cNvSpPr/>
          <p:nvPr/>
        </p:nvSpPr>
        <p:spPr>
          <a:xfrm>
            <a:off x="2865922" y="398081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1024B4-0F99-F653-20B1-6B68919EB971}"/>
              </a:ext>
            </a:extLst>
          </p:cNvPr>
          <p:cNvSpPr txBox="1"/>
          <p:nvPr/>
        </p:nvSpPr>
        <p:spPr>
          <a:xfrm>
            <a:off x="1520702" y="384637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75426D1-E807-18EB-210A-54E71C2F0D66}"/>
              </a:ext>
            </a:extLst>
          </p:cNvPr>
          <p:cNvSpPr/>
          <p:nvPr/>
        </p:nvSpPr>
        <p:spPr>
          <a:xfrm rot="10800000">
            <a:off x="6833197" y="4710707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F013AAB2-9B2E-9074-8F1C-882FD5F43655}"/>
              </a:ext>
            </a:extLst>
          </p:cNvPr>
          <p:cNvSpPr/>
          <p:nvPr/>
        </p:nvSpPr>
        <p:spPr>
          <a:xfrm rot="10800000">
            <a:off x="3415495" y="4710707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06B5B3F1-360E-13E2-EC31-FAF3BD4EBD99}"/>
              </a:ext>
            </a:extLst>
          </p:cNvPr>
          <p:cNvSpPr txBox="1"/>
          <p:nvPr/>
        </p:nvSpPr>
        <p:spPr>
          <a:xfrm>
            <a:off x="-361516" y="5170324"/>
            <a:ext cx="12191999" cy="137933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898D117-7CED-E602-E9A1-37A9802D48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sp>
        <p:nvSpPr>
          <p:cNvPr id="40" name="Freeform 3">
            <a:extLst>
              <a:ext uri="{FF2B5EF4-FFF2-40B4-BE49-F238E27FC236}">
                <a16:creationId xmlns:a16="http://schemas.microsoft.com/office/drawing/2014/main" id="{6784FE9B-1B38-FE6A-747F-A77E60C2CE70}"/>
              </a:ext>
            </a:extLst>
          </p:cNvPr>
          <p:cNvSpPr/>
          <p:nvPr/>
        </p:nvSpPr>
        <p:spPr>
          <a:xfrm>
            <a:off x="-1" y="6129932"/>
            <a:ext cx="12191999" cy="737181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1706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17FA4-6F63-1A28-997F-B1C01368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106A88-984F-1D91-2910-EE265CF424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DC7851-DED8-D1B2-F2AC-54003E2441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3316BB40-46C5-4374-2643-6BFB22292E98}"/>
              </a:ext>
            </a:extLst>
          </p:cNvPr>
          <p:cNvGrpSpPr/>
          <p:nvPr/>
        </p:nvGrpSpPr>
        <p:grpSpPr>
          <a:xfrm>
            <a:off x="83534" y="965200"/>
            <a:ext cx="214178" cy="965200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7DD352AF-BF12-7B29-66C3-A4AF8B7A025C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8704D84E-4DC1-5E0F-6C20-298194900F7A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E0EDC48-1930-1146-A9CF-CFB0DC13D7D8}"/>
              </a:ext>
            </a:extLst>
          </p:cNvPr>
          <p:cNvSpPr txBox="1"/>
          <p:nvPr/>
        </p:nvSpPr>
        <p:spPr>
          <a:xfrm>
            <a:off x="466766" y="915783"/>
            <a:ext cx="12083204" cy="1161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Alur Assessment Proton - </a:t>
            </a:r>
            <a:r>
              <a:rPr lang="en-US" sz="3600" b="1" dirty="0" err="1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Tahun</a:t>
            </a: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 3 (Interview Offline)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11F925-700F-F4AD-716A-B71BC6AFA5A2}"/>
              </a:ext>
            </a:extLst>
          </p:cNvPr>
          <p:cNvSpPr/>
          <p:nvPr/>
        </p:nvSpPr>
        <p:spPr>
          <a:xfrm>
            <a:off x="1212127" y="2413567"/>
            <a:ext cx="2158410" cy="1531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494AFF-8DA0-AB57-0FF8-FDF91245DEB6}"/>
              </a:ext>
            </a:extLst>
          </p:cNvPr>
          <p:cNvSpPr/>
          <p:nvPr/>
        </p:nvSpPr>
        <p:spPr>
          <a:xfrm>
            <a:off x="4524169" y="2413567"/>
            <a:ext cx="2158410" cy="1531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2052E2-7514-A461-1984-C942394E5488}"/>
              </a:ext>
            </a:extLst>
          </p:cNvPr>
          <p:cNvSpPr/>
          <p:nvPr/>
        </p:nvSpPr>
        <p:spPr>
          <a:xfrm>
            <a:off x="8064811" y="2412386"/>
            <a:ext cx="2158410" cy="1531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157FA08-94DA-FAD0-6E02-DC654E20549C}"/>
              </a:ext>
            </a:extLst>
          </p:cNvPr>
          <p:cNvSpPr/>
          <p:nvPr/>
        </p:nvSpPr>
        <p:spPr>
          <a:xfrm>
            <a:off x="3530025" y="2816662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3718D58-74F2-0D42-1CC1-99A80006B196}"/>
              </a:ext>
            </a:extLst>
          </p:cNvPr>
          <p:cNvSpPr/>
          <p:nvPr/>
        </p:nvSpPr>
        <p:spPr>
          <a:xfrm>
            <a:off x="6982061" y="2816662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5FB77604-BA8D-B1C8-DF36-493F100D6235}"/>
              </a:ext>
            </a:extLst>
          </p:cNvPr>
          <p:cNvSpPr txBox="1"/>
          <p:nvPr/>
        </p:nvSpPr>
        <p:spPr>
          <a:xfrm>
            <a:off x="1237824" y="2836883"/>
            <a:ext cx="2331191" cy="13304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7475" marR="0" lvl="1">
              <a:spcBef>
                <a:spcPts val="775"/>
              </a:spcBef>
              <a:buClr>
                <a:srgbClr val="1A1A1A"/>
              </a:buClr>
              <a:buSzPts val="1000"/>
              <a:tabLst>
                <a:tab pos="683895" algn="l"/>
              </a:tabLst>
            </a:pPr>
            <a:r>
              <a:rPr lang="id-ID" sz="1000" b="1" spc="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 Assessment</a:t>
            </a:r>
            <a:r>
              <a:rPr lang="en-US" sz="1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                         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Pilih kategori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“Assessment</a:t>
            </a:r>
            <a:r>
              <a:rPr lang="en-US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Proton”</a:t>
            </a:r>
            <a:r>
              <a:rPr lang="en-US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                     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pilih track Tahun 3</a:t>
            </a:r>
            <a:r>
              <a:rPr lang="en-US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(misal: Operator - Tahun 3). </a:t>
            </a:r>
            <a:r>
              <a:rPr lang="en-US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</a:t>
            </a:r>
            <a:r>
              <a:rPr lang="id-ID" sz="1000" spc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Tidak perlu durasi &amp; paket soal</a:t>
            </a:r>
          </a:p>
        </p:txBody>
      </p:sp>
      <p:sp>
        <p:nvSpPr>
          <p:cNvPr id="14" name="Textbox 68">
            <a:extLst>
              <a:ext uri="{FF2B5EF4-FFF2-40B4-BE49-F238E27FC236}">
                <a16:creationId xmlns:a16="http://schemas.microsoft.com/office/drawing/2014/main" id="{F5D694E6-F55E-FCEB-4A45-FAE9C8C27E82}"/>
              </a:ext>
            </a:extLst>
          </p:cNvPr>
          <p:cNvSpPr txBox="1"/>
          <p:nvPr/>
        </p:nvSpPr>
        <p:spPr>
          <a:xfrm>
            <a:off x="4651937" y="2687566"/>
            <a:ext cx="2016293" cy="135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11430">
              <a:spcBef>
                <a:spcPts val="105"/>
              </a:spcBef>
              <a:buNone/>
            </a:pPr>
            <a:endParaRPr lang="en-US" sz="1100" spc="-25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spcBef>
                <a:spcPts val="105"/>
              </a:spcBef>
              <a:buNone/>
            </a:pPr>
            <a:r>
              <a:rPr lang="sv-SE" sz="1000" b="1" spc="-3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Pelaksanaan Interview</a:t>
            </a:r>
          </a:p>
          <a:p>
            <a:pPr marL="0" marR="11430">
              <a:spcBef>
                <a:spcPts val="105"/>
              </a:spcBef>
              <a:buNone/>
            </a:pPr>
            <a:r>
              <a:rPr lang="sv-SE" sz="1000" spc="-35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Interview tatap muka secara offline. Panel juri menilai 5 aspek</a:t>
            </a:r>
          </a:p>
          <a:p>
            <a:pPr marL="0" marR="11430">
              <a:spcBef>
                <a:spcPts val="105"/>
              </a:spcBef>
              <a:buNone/>
            </a:pPr>
            <a:r>
              <a:rPr lang="sv-SE" sz="1000" spc="-35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 (skor 1–5)</a:t>
            </a: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8D5CE214-5F11-3E47-F2E3-CC6EE28310BE}"/>
              </a:ext>
            </a:extLst>
          </p:cNvPr>
          <p:cNvSpPr txBox="1"/>
          <p:nvPr/>
        </p:nvSpPr>
        <p:spPr>
          <a:xfrm>
            <a:off x="8135699" y="2627581"/>
            <a:ext cx="2706859" cy="159510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 indent="33655">
              <a:spcBef>
                <a:spcPts val="775"/>
              </a:spcBef>
              <a:buNone/>
            </a:pPr>
            <a:r>
              <a:rPr lang="id-ID" sz="100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1000" b="1" spc="-70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indent="33655">
              <a:spcBef>
                <a:spcPts val="775"/>
              </a:spcBef>
              <a:buNone/>
            </a:pPr>
            <a:r>
              <a:rPr lang="id-ID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Input Hasil Interview</a:t>
            </a:r>
            <a:r>
              <a:rPr lang="en-US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Masukkan: nama juri, skor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 aspek,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catatan, dokumen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pendukung,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Keputusan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l</a:t>
            </a:r>
            <a:r>
              <a:rPr lang="id-ID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ulus/tidak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E167F2F-711B-FDB5-FE4E-500B86940D59}"/>
              </a:ext>
            </a:extLst>
          </p:cNvPr>
          <p:cNvSpPr/>
          <p:nvPr/>
        </p:nvSpPr>
        <p:spPr>
          <a:xfrm>
            <a:off x="1141239" y="2277406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4ECFF55-CCF8-0BBB-EF66-F8D4C0350269}"/>
              </a:ext>
            </a:extLst>
          </p:cNvPr>
          <p:cNvSpPr/>
          <p:nvPr/>
        </p:nvSpPr>
        <p:spPr>
          <a:xfrm>
            <a:off x="4325691" y="2256666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39F52F63-849B-CE4B-11FD-231C50A12D62}"/>
              </a:ext>
            </a:extLst>
          </p:cNvPr>
          <p:cNvSpPr/>
          <p:nvPr/>
        </p:nvSpPr>
        <p:spPr>
          <a:xfrm>
            <a:off x="8019619" y="2256665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AA59F9-7358-2CC8-0E7B-248EBFAE360D}"/>
              </a:ext>
            </a:extLst>
          </p:cNvPr>
          <p:cNvSpPr txBox="1"/>
          <p:nvPr/>
        </p:nvSpPr>
        <p:spPr>
          <a:xfrm>
            <a:off x="1592231" y="211652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B33986-A662-EDE0-05FD-F33744D87704}"/>
              </a:ext>
            </a:extLst>
          </p:cNvPr>
          <p:cNvSpPr txBox="1"/>
          <p:nvPr/>
        </p:nvSpPr>
        <p:spPr>
          <a:xfrm>
            <a:off x="4857326" y="211652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Panel Juri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9327D7-5351-E340-9F23-E1D15BE60FC8}"/>
              </a:ext>
            </a:extLst>
          </p:cNvPr>
          <p:cNvSpPr txBox="1"/>
          <p:nvPr/>
        </p:nvSpPr>
        <p:spPr>
          <a:xfrm>
            <a:off x="8468863" y="2107870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2" name="Arrow: U-Turn 21">
            <a:extLst>
              <a:ext uri="{FF2B5EF4-FFF2-40B4-BE49-F238E27FC236}">
                <a16:creationId xmlns:a16="http://schemas.microsoft.com/office/drawing/2014/main" id="{ACA11137-89AF-B3D9-4BB4-BDF984FA8EDC}"/>
              </a:ext>
            </a:extLst>
          </p:cNvPr>
          <p:cNvSpPr/>
          <p:nvPr/>
        </p:nvSpPr>
        <p:spPr>
          <a:xfrm rot="5400000">
            <a:off x="9732822" y="3668685"/>
            <a:ext cx="2593399" cy="1063255"/>
          </a:xfrm>
          <a:prstGeom prst="utur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877C02-4035-2649-D083-9B8881E39DF5}"/>
              </a:ext>
            </a:extLst>
          </p:cNvPr>
          <p:cNvSpPr/>
          <p:nvPr/>
        </p:nvSpPr>
        <p:spPr>
          <a:xfrm>
            <a:off x="8135699" y="4537403"/>
            <a:ext cx="2158410" cy="1531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0795">
              <a:spcBef>
                <a:spcPts val="775"/>
              </a:spcBef>
              <a:buNone/>
            </a:pPr>
            <a:r>
              <a:rPr lang="id-ID" sz="1000" b="1" spc="-1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Lihat Hasil</a:t>
            </a:r>
            <a:r>
              <a:rPr lang="en-US" sz="1000" b="1" spc="-1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                      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Pekerja melihat hasil interview di halaman Results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FC45059-CE73-D89F-5277-A031DB4B43B9}"/>
              </a:ext>
            </a:extLst>
          </p:cNvPr>
          <p:cNvSpPr/>
          <p:nvPr/>
        </p:nvSpPr>
        <p:spPr>
          <a:xfrm>
            <a:off x="9896270" y="4328480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A8C22C-F916-BF04-AC6E-35628728284B}"/>
              </a:ext>
            </a:extLst>
          </p:cNvPr>
          <p:cNvSpPr txBox="1"/>
          <p:nvPr/>
        </p:nvSpPr>
        <p:spPr>
          <a:xfrm>
            <a:off x="8858750" y="419993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Pekerja</a:t>
            </a:r>
            <a:endParaRPr lang="en-US" sz="20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FBDE813-707D-D93F-A124-E0A3021D0DC0}"/>
              </a:ext>
            </a:extLst>
          </p:cNvPr>
          <p:cNvSpPr/>
          <p:nvPr/>
        </p:nvSpPr>
        <p:spPr>
          <a:xfrm>
            <a:off x="4524169" y="4529950"/>
            <a:ext cx="2158410" cy="153108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sv-SE" sz="1000" b="1" dirty="0">
              <a:solidFill>
                <a:srgbClr val="1A1A1A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sv-SE" sz="100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Sertifikat</a:t>
            </a:r>
          </a:p>
          <a:p>
            <a:r>
              <a:rPr lang="sv-SE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Jika lulus: sertifikat diterbitkan dan dapat diunduh</a:t>
            </a:r>
          </a:p>
          <a:p>
            <a:pPr>
              <a:buNone/>
            </a:pPr>
            <a:endParaRPr lang="en-US" sz="950" dirty="0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9B525A74-9A78-CC6D-1215-B6CD39BCC69B}"/>
              </a:ext>
            </a:extLst>
          </p:cNvPr>
          <p:cNvSpPr/>
          <p:nvPr/>
        </p:nvSpPr>
        <p:spPr>
          <a:xfrm>
            <a:off x="6284740" y="4321027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A2A1F6-E87D-8B50-0F56-E01B8DE980C5}"/>
              </a:ext>
            </a:extLst>
          </p:cNvPr>
          <p:cNvSpPr txBox="1"/>
          <p:nvPr/>
        </p:nvSpPr>
        <p:spPr>
          <a:xfrm>
            <a:off x="4844946" y="420031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Sistem</a:t>
            </a:r>
            <a:endParaRPr lang="en-US" sz="2000" b="1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02FA076D-9453-29A5-EEEF-1C429A00BCA0}"/>
              </a:ext>
            </a:extLst>
          </p:cNvPr>
          <p:cNvSpPr/>
          <p:nvPr/>
        </p:nvSpPr>
        <p:spPr>
          <a:xfrm rot="10800000">
            <a:off x="6982061" y="5050922"/>
            <a:ext cx="808075" cy="44609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">
            <a:extLst>
              <a:ext uri="{FF2B5EF4-FFF2-40B4-BE49-F238E27FC236}">
                <a16:creationId xmlns:a16="http://schemas.microsoft.com/office/drawing/2014/main" id="{87CF3FF1-C945-4340-D677-7FC5BD71226C}"/>
              </a:ext>
            </a:extLst>
          </p:cNvPr>
          <p:cNvSpPr/>
          <p:nvPr/>
        </p:nvSpPr>
        <p:spPr>
          <a:xfrm>
            <a:off x="-1" y="6236290"/>
            <a:ext cx="12191999" cy="630823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03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D5A0-67FE-CCE2-9730-6AF5DE9A4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241BEE-1C21-7565-C32D-5C24011A8533}"/>
              </a:ext>
            </a:extLst>
          </p:cNvPr>
          <p:cNvSpPr/>
          <p:nvPr/>
        </p:nvSpPr>
        <p:spPr>
          <a:xfrm>
            <a:off x="-49685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DF2D4-CD2E-A2F7-6410-9842ADCAAF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D82EC04A-9A17-E38D-7E47-35E25DE7B8C5}"/>
              </a:ext>
            </a:extLst>
          </p:cNvPr>
          <p:cNvGrpSpPr/>
          <p:nvPr/>
        </p:nvGrpSpPr>
        <p:grpSpPr>
          <a:xfrm>
            <a:off x="146050" y="1203526"/>
            <a:ext cx="149849" cy="61466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9EA03D28-DB23-28F0-AAAC-DCD5B1CC525C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6988D77D-687C-51EF-DAC6-14C033BB1A2C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2085D122-CDF8-361D-0805-90D6EFD6EC72}"/>
              </a:ext>
            </a:extLst>
          </p:cNvPr>
          <p:cNvSpPr txBox="1"/>
          <p:nvPr/>
        </p:nvSpPr>
        <p:spPr>
          <a:xfrm>
            <a:off x="441949" y="1259224"/>
            <a:ext cx="7406652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600" b="1" dirty="0">
                <a:solidFill>
                  <a:srgbClr val="0C8EB6"/>
                </a:solidFill>
                <a:latin typeface="Poppins Bold"/>
                <a:ea typeface="Poppins Bold"/>
                <a:cs typeface="Poppins Bold"/>
                <a:sym typeface="Poppins Bold"/>
              </a:rPr>
              <a:t>Coaching Proton (CDP)</a:t>
            </a:r>
          </a:p>
        </p:txBody>
      </p:sp>
      <p:pic>
        <p:nvPicPr>
          <p:cNvPr id="8" name="Picture 3" descr="Gambar Tanda Centang Png, Vektor, PSD, dan Clipart Dengan ...">
            <a:extLst>
              <a:ext uri="{FF2B5EF4-FFF2-40B4-BE49-F238E27FC236}">
                <a16:creationId xmlns:a16="http://schemas.microsoft.com/office/drawing/2014/main" id="{DA8D59D2-91CC-A50B-5CDC-07610BD61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-78115" y="1904973"/>
            <a:ext cx="598177" cy="61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 descr="Gambar Tanda Centang Png, Vektor, PSD, dan Clipart Dengan ...">
            <a:extLst>
              <a:ext uri="{FF2B5EF4-FFF2-40B4-BE49-F238E27FC236}">
                <a16:creationId xmlns:a16="http://schemas.microsoft.com/office/drawing/2014/main" id="{3F709311-92F7-C434-A4BE-468404E9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-90560" y="2358922"/>
            <a:ext cx="598177" cy="61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731058-B81D-596B-CBB7-AFAEF3D813CE}"/>
              </a:ext>
            </a:extLst>
          </p:cNvPr>
          <p:cNvSpPr/>
          <p:nvPr/>
        </p:nvSpPr>
        <p:spPr>
          <a:xfrm>
            <a:off x="285650" y="1699581"/>
            <a:ext cx="10704233" cy="9146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5565" marR="134620">
              <a:lnSpc>
                <a:spcPct val="147000"/>
              </a:lnSpc>
              <a:spcBef>
                <a:spcPts val="1065"/>
              </a:spcBef>
              <a:buNone/>
            </a:pP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program pengembangan kompetensi yang berlangsung selama 3 tahun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B3E1E9-8675-6116-7C67-74E045DB4FEF}"/>
              </a:ext>
            </a:extLst>
          </p:cNvPr>
          <p:cNvSpPr/>
          <p:nvPr/>
        </p:nvSpPr>
        <p:spPr>
          <a:xfrm>
            <a:off x="285650" y="2191577"/>
            <a:ext cx="10704233" cy="9146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5565" marR="134620">
              <a:lnSpc>
                <a:spcPct val="147000"/>
              </a:lnSpc>
              <a:spcBef>
                <a:spcPts val="1065"/>
              </a:spcBef>
              <a:buNone/>
            </a:pPr>
            <a:r>
              <a:rPr lang="id-ID" sz="180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Setiap tahun memiliki track tersendiri dengan deliverable yang berbeda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59DAE4E-62EB-7E79-1A48-8AFEB2ACA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123601"/>
              </p:ext>
            </p:extLst>
          </p:nvPr>
        </p:nvGraphicFramePr>
        <p:xfrm>
          <a:off x="146048" y="3166908"/>
          <a:ext cx="107042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058">
                  <a:extLst>
                    <a:ext uri="{9D8B030D-6E8A-4147-A177-3AD203B41FA5}">
                      <a16:colId xmlns:a16="http://schemas.microsoft.com/office/drawing/2014/main" val="1936199940"/>
                    </a:ext>
                  </a:extLst>
                </a:gridCol>
                <a:gridCol w="3096720">
                  <a:extLst>
                    <a:ext uri="{9D8B030D-6E8A-4147-A177-3AD203B41FA5}">
                      <a16:colId xmlns:a16="http://schemas.microsoft.com/office/drawing/2014/main" val="2861545957"/>
                    </a:ext>
                  </a:extLst>
                </a:gridCol>
                <a:gridCol w="2255396">
                  <a:extLst>
                    <a:ext uri="{9D8B030D-6E8A-4147-A177-3AD203B41FA5}">
                      <a16:colId xmlns:a16="http://schemas.microsoft.com/office/drawing/2014/main" val="41004290"/>
                    </a:ext>
                  </a:extLst>
                </a:gridCol>
                <a:gridCol w="2676058">
                  <a:extLst>
                    <a:ext uri="{9D8B030D-6E8A-4147-A177-3AD203B41FA5}">
                      <a16:colId xmlns:a16="http://schemas.microsoft.com/office/drawing/2014/main" val="13530066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Track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Tahun</a:t>
                      </a:r>
                      <a:r>
                        <a:rPr lang="en-US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636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Panelman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Panelman</a:t>
                      </a:r>
                      <a:r>
                        <a:rPr lang="en-US" dirty="0"/>
                        <a:t> – 1 </a:t>
                      </a:r>
                      <a:r>
                        <a:rPr lang="en-US" dirty="0" err="1"/>
                        <a:t>tahun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Panelman</a:t>
                      </a:r>
                      <a:r>
                        <a:rPr lang="en-US" dirty="0"/>
                        <a:t> – </a:t>
                      </a:r>
                      <a:r>
                        <a:rPr lang="en-US" dirty="0" err="1"/>
                        <a:t>Tahun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Panelman</a:t>
                      </a:r>
                      <a:r>
                        <a:rPr lang="en-US" dirty="0"/>
                        <a:t> – </a:t>
                      </a:r>
                      <a:r>
                        <a:rPr lang="en-US" dirty="0" err="1"/>
                        <a:t>Tahun</a:t>
                      </a:r>
                      <a:r>
                        <a:rPr lang="en-US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1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 – 1 </a:t>
                      </a:r>
                      <a:r>
                        <a:rPr lang="en-US" dirty="0" err="1"/>
                        <a:t>tahun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 – </a:t>
                      </a:r>
                      <a:r>
                        <a:rPr lang="en-US" dirty="0" err="1"/>
                        <a:t>Tahun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Operator – </a:t>
                      </a:r>
                      <a:r>
                        <a:rPr lang="en-US" dirty="0" err="1"/>
                        <a:t>Tahun</a:t>
                      </a:r>
                      <a:r>
                        <a:rPr lang="en-US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955383"/>
                  </a:ext>
                </a:extLst>
              </a:tr>
            </a:tbl>
          </a:graphicData>
        </a:graphic>
      </p:graphicFrame>
      <p:sp>
        <p:nvSpPr>
          <p:cNvPr id="13" name="Freeform 3">
            <a:extLst>
              <a:ext uri="{FF2B5EF4-FFF2-40B4-BE49-F238E27FC236}">
                <a16:creationId xmlns:a16="http://schemas.microsoft.com/office/drawing/2014/main" id="{8F8E7542-0ABA-F07F-55CB-B40F955CBCF3}"/>
              </a:ext>
            </a:extLst>
          </p:cNvPr>
          <p:cNvSpPr/>
          <p:nvPr/>
        </p:nvSpPr>
        <p:spPr>
          <a:xfrm>
            <a:off x="0" y="6071190"/>
            <a:ext cx="12191999" cy="786809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29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3835A-0EC9-0B6E-37CA-1051D840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E7B6D1-5FF9-2D13-2F2C-1068B6ADF1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33C0F-B0AA-66D4-4D9F-F5CA2E41B2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1A6538-675A-C5DC-9C71-E59715DF9B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77945" y="0"/>
            <a:ext cx="10122568" cy="61280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3052859-0166-341F-8809-A4192141BB87}"/>
              </a:ext>
            </a:extLst>
          </p:cNvPr>
          <p:cNvSpPr/>
          <p:nvPr/>
        </p:nvSpPr>
        <p:spPr>
          <a:xfrm>
            <a:off x="2334741" y="1637483"/>
            <a:ext cx="7808976" cy="4465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F01A7CBD-D419-0D03-A94B-B0A26391D1B8}"/>
              </a:ext>
            </a:extLst>
          </p:cNvPr>
          <p:cNvSpPr txBox="1"/>
          <p:nvPr/>
        </p:nvSpPr>
        <p:spPr>
          <a:xfrm>
            <a:off x="2417800" y="1468441"/>
            <a:ext cx="8791273" cy="489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Setiap</a:t>
            </a:r>
            <a:r>
              <a:rPr lang="en-US" sz="1600" b="1" dirty="0">
                <a:latin typeface="Poppins Bold"/>
                <a:ea typeface="Poppins Bold"/>
                <a:cs typeface="Poppins Bold"/>
                <a:sym typeface="Poppins Bold"/>
              </a:rPr>
              <a:t> track </a:t>
            </a: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memiliki</a:t>
            </a:r>
            <a:r>
              <a:rPr lang="en-US" sz="1600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hierarki</a:t>
            </a:r>
            <a:r>
              <a:rPr lang="en-US" sz="1600" b="1" dirty="0"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kompetensi</a:t>
            </a:r>
            <a:r>
              <a:rPr lang="en-US" sz="1600" b="1" dirty="0">
                <a:latin typeface="Poppins Bold"/>
                <a:ea typeface="Poppins Bold"/>
                <a:cs typeface="Poppins Bold"/>
                <a:sym typeface="Poppins Bold"/>
              </a:rPr>
              <a:t> yang </a:t>
            </a: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berbeda</a:t>
            </a:r>
            <a:r>
              <a:rPr lang="en-US" sz="1600" b="1" dirty="0">
                <a:latin typeface="Poppins Bold"/>
                <a:ea typeface="Poppins Bold"/>
                <a:cs typeface="Poppins Bold"/>
                <a:sym typeface="Poppins Bold"/>
              </a:rPr>
              <a:t> dan </a:t>
            </a:r>
            <a:r>
              <a:rPr lang="en-US" sz="1600" b="1" dirty="0" err="1">
                <a:latin typeface="Poppins Bold"/>
                <a:ea typeface="Poppins Bold"/>
                <a:cs typeface="Poppins Bold"/>
                <a:sym typeface="Poppins Bold"/>
              </a:rPr>
              <a:t>independen</a:t>
            </a:r>
            <a:endParaRPr lang="en-US" sz="1600" b="1" dirty="0"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2D3FA-239A-6C96-6202-D92FFCB5CDE8}"/>
              </a:ext>
            </a:extLst>
          </p:cNvPr>
          <p:cNvSpPr txBox="1"/>
          <p:nvPr/>
        </p:nvSpPr>
        <p:spPr>
          <a:xfrm>
            <a:off x="2973029" y="2521059"/>
            <a:ext cx="6756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Track (</a:t>
            </a:r>
            <a:r>
              <a:rPr lang="en-US" sz="1600" dirty="0" err="1">
                <a:solidFill>
                  <a:schemeClr val="bg1"/>
                </a:solidFill>
              </a:rPr>
              <a:t>misal</a:t>
            </a:r>
            <a:r>
              <a:rPr lang="en-US" sz="1600" dirty="0">
                <a:solidFill>
                  <a:schemeClr val="bg1"/>
                </a:solidFill>
              </a:rPr>
              <a:t>: Operator - </a:t>
            </a:r>
            <a:r>
              <a:rPr lang="en-US" sz="1600" dirty="0" err="1">
                <a:solidFill>
                  <a:schemeClr val="bg1"/>
                </a:solidFill>
              </a:rPr>
              <a:t>Tahun</a:t>
            </a:r>
            <a:r>
              <a:rPr lang="en-US" sz="1600" dirty="0">
                <a:solidFill>
                  <a:schemeClr val="bg1"/>
                </a:solidFill>
              </a:rPr>
              <a:t> 1)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↓</a:t>
            </a:r>
          </a:p>
          <a:p>
            <a:pPr algn="ctr"/>
            <a:r>
              <a:rPr lang="en-US" sz="1600" dirty="0" err="1">
                <a:solidFill>
                  <a:schemeClr val="bg1"/>
                </a:solidFill>
              </a:rPr>
              <a:t>Kompetensi</a:t>
            </a:r>
            <a:r>
              <a:rPr lang="en-US" sz="1600" dirty="0">
                <a:solidFill>
                  <a:schemeClr val="bg1"/>
                </a:solidFill>
              </a:rPr>
              <a:t> (Level 1) — </a:t>
            </a:r>
            <a:r>
              <a:rPr lang="en-US" sz="1600" dirty="0" err="1">
                <a:solidFill>
                  <a:schemeClr val="bg1"/>
                </a:solidFill>
              </a:rPr>
              <a:t>contoh</a:t>
            </a:r>
            <a:r>
              <a:rPr lang="en-US" sz="1600" dirty="0">
                <a:solidFill>
                  <a:schemeClr val="bg1"/>
                </a:solidFill>
              </a:rPr>
              <a:t>: "</a:t>
            </a:r>
            <a:r>
              <a:rPr lang="en-US" sz="1600" dirty="0" err="1">
                <a:solidFill>
                  <a:schemeClr val="bg1"/>
                </a:solidFill>
              </a:rPr>
              <a:t>Pengenalan</a:t>
            </a:r>
            <a:r>
              <a:rPr lang="en-US" sz="1600" dirty="0">
                <a:solidFill>
                  <a:schemeClr val="bg1"/>
                </a:solidFill>
              </a:rPr>
              <a:t> Unit"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↓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Sub-</a:t>
            </a:r>
            <a:r>
              <a:rPr lang="en-US" sz="1600" dirty="0" err="1">
                <a:solidFill>
                  <a:schemeClr val="bg1"/>
                </a:solidFill>
              </a:rPr>
              <a:t>Kompetensi</a:t>
            </a:r>
            <a:r>
              <a:rPr lang="en-US" sz="1600" dirty="0">
                <a:solidFill>
                  <a:schemeClr val="bg1"/>
                </a:solidFill>
              </a:rPr>
              <a:t> (Level 2) — </a:t>
            </a:r>
            <a:r>
              <a:rPr lang="en-US" sz="1600" dirty="0" err="1">
                <a:solidFill>
                  <a:schemeClr val="bg1"/>
                </a:solidFill>
              </a:rPr>
              <a:t>contoh</a:t>
            </a:r>
            <a:r>
              <a:rPr lang="en-US" sz="1600" dirty="0">
                <a:solidFill>
                  <a:schemeClr val="bg1"/>
                </a:solidFill>
              </a:rPr>
              <a:t>: "Proses </a:t>
            </a:r>
            <a:r>
              <a:rPr lang="en-US" sz="1600" dirty="0" err="1">
                <a:solidFill>
                  <a:schemeClr val="bg1"/>
                </a:solidFill>
              </a:rPr>
              <a:t>Distilasi</a:t>
            </a:r>
            <a:r>
              <a:rPr lang="en-US" sz="1600" dirty="0">
                <a:solidFill>
                  <a:schemeClr val="bg1"/>
                </a:solidFill>
              </a:rPr>
              <a:t>"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↓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Deliverable (Level 3) — </a:t>
            </a:r>
            <a:r>
              <a:rPr lang="en-US" sz="1600" dirty="0" err="1">
                <a:solidFill>
                  <a:schemeClr val="bg1"/>
                </a:solidFill>
              </a:rPr>
              <a:t>contoh</a:t>
            </a:r>
            <a:r>
              <a:rPr lang="en-US" sz="1600" dirty="0">
                <a:solidFill>
                  <a:schemeClr val="bg1"/>
                </a:solidFill>
              </a:rPr>
              <a:t>: "</a:t>
            </a:r>
            <a:r>
              <a:rPr lang="en-US" sz="1600" dirty="0" err="1">
                <a:solidFill>
                  <a:schemeClr val="bg1"/>
                </a:solidFill>
              </a:rPr>
              <a:t>Laporan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Observasi</a:t>
            </a:r>
            <a:r>
              <a:rPr lang="en-US" sz="1600" dirty="0">
                <a:solidFill>
                  <a:schemeClr val="bg1"/>
                </a:solidFill>
              </a:rPr>
              <a:t> Proses"</a:t>
            </a: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E99F55FE-C4F0-5FF0-9705-E0C3FDE6FAAA}"/>
              </a:ext>
            </a:extLst>
          </p:cNvPr>
          <p:cNvSpPr/>
          <p:nvPr/>
        </p:nvSpPr>
        <p:spPr>
          <a:xfrm>
            <a:off x="0" y="6128076"/>
            <a:ext cx="12191999" cy="729923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6844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0B264-2AD3-87E6-B88B-CC28F988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98A11-FA40-63D8-96CD-33767DA398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D697B-DB17-6659-0A05-65EA9AF82C0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E1A10D-DDBD-007C-C332-51EE47D28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304551"/>
              </p:ext>
            </p:extLst>
          </p:nvPr>
        </p:nvGraphicFramePr>
        <p:xfrm>
          <a:off x="176461" y="1608222"/>
          <a:ext cx="11839076" cy="3821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769">
                  <a:extLst>
                    <a:ext uri="{9D8B030D-6E8A-4147-A177-3AD203B41FA5}">
                      <a16:colId xmlns:a16="http://schemas.microsoft.com/office/drawing/2014/main" val="3112255746"/>
                    </a:ext>
                  </a:extLst>
                </a:gridCol>
                <a:gridCol w="2959769">
                  <a:extLst>
                    <a:ext uri="{9D8B030D-6E8A-4147-A177-3AD203B41FA5}">
                      <a16:colId xmlns:a16="http://schemas.microsoft.com/office/drawing/2014/main" val="3957784742"/>
                    </a:ext>
                  </a:extLst>
                </a:gridCol>
                <a:gridCol w="2959769">
                  <a:extLst>
                    <a:ext uri="{9D8B030D-6E8A-4147-A177-3AD203B41FA5}">
                      <a16:colId xmlns:a16="http://schemas.microsoft.com/office/drawing/2014/main" val="121685856"/>
                    </a:ext>
                  </a:extLst>
                </a:gridCol>
                <a:gridCol w="2959769">
                  <a:extLst>
                    <a:ext uri="{9D8B030D-6E8A-4147-A177-3AD203B41FA5}">
                      <a16:colId xmlns:a16="http://schemas.microsoft.com/office/drawing/2014/main" val="3642238172"/>
                    </a:ext>
                  </a:extLst>
                </a:gridCol>
              </a:tblGrid>
              <a:tr h="471790">
                <a:tc>
                  <a:txBody>
                    <a:bodyPr/>
                    <a:lstStyle/>
                    <a:p>
                      <a:pPr marL="0" marR="0">
                        <a:spcBef>
                          <a:spcPts val="76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Fokus </a:t>
                      </a:r>
                      <a:r>
                        <a:rPr lang="id-ID" sz="1400" b="1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Kompetensi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8910" marR="164465" algn="ctr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Kompetensi</a:t>
                      </a:r>
                      <a:r>
                        <a:rPr lang="id-ID" sz="1400" b="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dasar</a:t>
                      </a:r>
                      <a:r>
                        <a:rPr lang="id-ID" sz="1400" b="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 pengenalan unit </a:t>
                      </a:r>
                      <a:r>
                        <a:rPr lang="id-ID" sz="1400" b="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kerja</a:t>
                      </a:r>
                      <a:endParaRPr lang="en-US" sz="1400" b="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118110" algn="ctr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b="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Kompetensi</a:t>
                      </a:r>
                      <a:r>
                        <a:rPr lang="id-ID" sz="1400" b="0" spc="-5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lanjutan 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 pendalaman </a:t>
                      </a:r>
                      <a:r>
                        <a:rPr lang="id-ID" sz="1400" b="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proses</a:t>
                      </a:r>
                      <a:endParaRPr lang="en-US" sz="1400" b="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760"/>
                        </a:spcBef>
                        <a:buNone/>
                      </a:pPr>
                      <a:r>
                        <a:rPr lang="id-ID" sz="1400" b="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Kompetensi</a:t>
                      </a:r>
                      <a:r>
                        <a:rPr lang="id-ID" sz="1400" b="0" spc="-5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mahir</a:t>
                      </a:r>
                      <a:r>
                        <a:rPr lang="id-ID" sz="1400" b="0" spc="-5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 penguasaan penuh</a:t>
                      </a:r>
                      <a:endParaRPr lang="en-US" sz="1400" b="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015700"/>
                  </a:ext>
                </a:extLst>
              </a:tr>
              <a:tr h="689810">
                <a:tc>
                  <a:txBody>
                    <a:bodyPr/>
                    <a:lstStyle/>
                    <a:p>
                      <a:pPr marL="0" marR="0"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Deliverable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68910" marR="0" algn="ctr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Deliverable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khusus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 1 (berbeda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68910" marR="0" algn="ctr">
                        <a:lnSpc>
                          <a:spcPts val="1075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 marR="267970" algn="ctr">
                        <a:lnSpc>
                          <a:spcPct val="150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Deliverable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khusus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 2 (berbeda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51765" marR="0" algn="ctr">
                        <a:lnSpc>
                          <a:spcPts val="1075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Deliverable khusus Tahun 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63830" marR="0" algn="ctr">
                        <a:spcBef>
                          <a:spcPts val="575"/>
                        </a:spcBef>
                        <a:buNone/>
                      </a:pP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(berbeda</a:t>
                      </a:r>
                      <a:r>
                        <a:rPr lang="id-ID" sz="1400" spc="-4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&amp;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32317788"/>
                  </a:ext>
                </a:extLst>
              </a:tr>
              <a:tr h="689810">
                <a:tc>
                  <a:txBody>
                    <a:bodyPr/>
                    <a:lstStyle/>
                    <a:p>
                      <a:pPr marL="0" marR="0"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1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Coaching 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Submit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evidence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Coach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review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HC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Submit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evidence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Coach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review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id-ID" sz="1400" spc="-4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HC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review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3830" marR="122555" algn="ctr">
                        <a:lnSpc>
                          <a:spcPct val="147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Submit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evidence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Coach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review → HC review +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Final Assessment 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(Interview)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69123"/>
                  </a:ext>
                </a:extLst>
              </a:tr>
              <a:tr h="689810">
                <a:tc>
                  <a:txBody>
                    <a:bodyPr/>
                    <a:lstStyle/>
                    <a:p>
                      <a:pPr marL="0" marR="0"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Assessment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Ujian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online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(pilihan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ganda)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Ujian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online</a:t>
                      </a:r>
                      <a:r>
                        <a:rPr lang="id-ID" sz="1400" spc="-7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(pilihan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ganda)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 marR="122555" algn="ctr">
                        <a:lnSpc>
                          <a:spcPct val="142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Interview offline </a:t>
                      </a:r>
                      <a:r>
                        <a:rPr lang="id-ID" sz="140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oleh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panel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juri</a:t>
                      </a:r>
                      <a:r>
                        <a:rPr lang="id-ID" sz="1400" spc="-5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(5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aspek,</a:t>
                      </a:r>
                      <a:r>
                        <a:rPr lang="id-ID" sz="1400" spc="-5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skor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1–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5)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7287667"/>
                  </a:ext>
                </a:extLst>
              </a:tr>
              <a:tr h="689810">
                <a:tc>
                  <a:txBody>
                    <a:bodyPr/>
                    <a:lstStyle/>
                    <a:p>
                      <a:pPr marL="0" marR="0">
                        <a:spcBef>
                          <a:spcPts val="1010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Akhir</a:t>
                      </a:r>
                      <a:r>
                        <a:rPr lang="id-ID" sz="1400" b="1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Sertifikasi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68910" marR="0" algn="ctr">
                        <a:spcBef>
                          <a:spcPts val="575"/>
                        </a:spcBef>
                        <a:buNone/>
                      </a:pP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lanjut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ke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85"/>
                        </a:spcBef>
                        <a:buNone/>
                      </a:pPr>
                      <a:r>
                        <a:rPr lang="id-ID" sz="1400" dirty="0"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Sertifikasi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2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2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id-ID" sz="1400" spc="-3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51765" marR="0" algn="ctr">
                        <a:spcBef>
                          <a:spcPts val="575"/>
                        </a:spcBef>
                        <a:buNone/>
                      </a:pP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lanjut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ke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Tahun</a:t>
                      </a:r>
                      <a:r>
                        <a:rPr lang="id-ID" sz="1400" spc="-35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5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63830" marR="228600" algn="ctr">
                        <a:lnSpc>
                          <a:spcPct val="146000"/>
                        </a:lnSpc>
                        <a:spcBef>
                          <a:spcPts val="1010"/>
                        </a:spcBef>
                        <a:buNone/>
                      </a:pP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Sertifikasi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id-ID" sz="1400" spc="-6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Pekerja </a:t>
                      </a:r>
                      <a:r>
                        <a:rPr lang="id-ID" sz="1400" b="1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dinyatakan kompeten </a:t>
                      </a:r>
                      <a:r>
                        <a:rPr lang="id-ID" sz="1400" b="1" spc="-10" dirty="0">
                          <a:solidFill>
                            <a:srgbClr val="1A1A1A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penuh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289801"/>
                  </a:ext>
                </a:extLst>
              </a:tr>
            </a:tbl>
          </a:graphicData>
        </a:graphic>
      </p:graphicFrame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B3FE101-BAEB-B6A9-A01C-9077DE20EED2}"/>
              </a:ext>
            </a:extLst>
          </p:cNvPr>
          <p:cNvSpPr/>
          <p:nvPr/>
        </p:nvSpPr>
        <p:spPr>
          <a:xfrm>
            <a:off x="9015660" y="963212"/>
            <a:ext cx="3176340" cy="643022"/>
          </a:xfrm>
          <a:prstGeom prst="homePlate">
            <a:avLst/>
          </a:prstGeom>
          <a:solidFill>
            <a:srgbClr val="FF7C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Tahun</a:t>
            </a:r>
            <a:r>
              <a:rPr lang="en-US" sz="2800" b="1" dirty="0"/>
              <a:t> 3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B1BE3178-C9CE-AE2F-E820-3EBCA201D946}"/>
              </a:ext>
            </a:extLst>
          </p:cNvPr>
          <p:cNvSpPr/>
          <p:nvPr/>
        </p:nvSpPr>
        <p:spPr>
          <a:xfrm>
            <a:off x="6095999" y="963212"/>
            <a:ext cx="3352803" cy="643022"/>
          </a:xfrm>
          <a:prstGeom prst="homePlat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Tahun</a:t>
            </a:r>
            <a:r>
              <a:rPr lang="en-US" sz="2800" b="1" dirty="0"/>
              <a:t> 2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77CBAE0-A8E8-0567-AF35-DFF4B4C4D5B3}"/>
              </a:ext>
            </a:extLst>
          </p:cNvPr>
          <p:cNvSpPr/>
          <p:nvPr/>
        </p:nvSpPr>
        <p:spPr>
          <a:xfrm>
            <a:off x="3176341" y="963212"/>
            <a:ext cx="3352803" cy="64302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Tahun</a:t>
            </a:r>
            <a:r>
              <a:rPr lang="en-US" sz="2800" b="1" dirty="0"/>
              <a:t> 1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A5342D81-A6C0-BF2E-5917-793FA00E2531}"/>
              </a:ext>
            </a:extLst>
          </p:cNvPr>
          <p:cNvSpPr/>
          <p:nvPr/>
        </p:nvSpPr>
        <p:spPr>
          <a:xfrm>
            <a:off x="176460" y="961224"/>
            <a:ext cx="3352803" cy="643022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Aspek</a:t>
            </a:r>
            <a:endParaRPr lang="en-US" sz="2800" b="1" dirty="0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55E287E-E24D-AA30-1449-8B62F3D972AB}"/>
              </a:ext>
            </a:extLst>
          </p:cNvPr>
          <p:cNvSpPr/>
          <p:nvPr/>
        </p:nvSpPr>
        <p:spPr>
          <a:xfrm>
            <a:off x="0" y="6092456"/>
            <a:ext cx="12191999" cy="765544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085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D191-7694-BDD1-9809-842B110F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816DA-B4B1-477A-EFA4-92FE0F862561}"/>
              </a:ext>
            </a:extLst>
          </p:cNvPr>
          <p:cNvSpPr/>
          <p:nvPr/>
        </p:nvSpPr>
        <p:spPr>
          <a:xfrm>
            <a:off x="14605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3DBFDC-775C-FE58-C0B7-63F7835CE89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B8455904-5EEF-41F2-B7A4-45B0990C846D}"/>
              </a:ext>
            </a:extLst>
          </p:cNvPr>
          <p:cNvGrpSpPr/>
          <p:nvPr/>
        </p:nvGrpSpPr>
        <p:grpSpPr>
          <a:xfrm>
            <a:off x="146050" y="1103956"/>
            <a:ext cx="149849" cy="61466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ED8481B5-400B-870C-28EA-58ED18313C52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5C920DF3-2E49-4994-702F-1FEAF9AE744D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54D36690-1E2A-98FF-A37B-15C3195D5048}"/>
              </a:ext>
            </a:extLst>
          </p:cNvPr>
          <p:cNvSpPr txBox="1"/>
          <p:nvPr/>
        </p:nvSpPr>
        <p:spPr>
          <a:xfrm>
            <a:off x="441949" y="1171103"/>
            <a:ext cx="4991288" cy="557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Coaching </a:t>
            </a:r>
            <a:r>
              <a:rPr lang="en-US" sz="3200" b="1" dirty="0" err="1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Tahun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1 &amp;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7228B6-E94E-336E-23B1-B565968149AC}"/>
              </a:ext>
            </a:extLst>
          </p:cNvPr>
          <p:cNvSpPr/>
          <p:nvPr/>
        </p:nvSpPr>
        <p:spPr>
          <a:xfrm>
            <a:off x="1424779" y="2381693"/>
            <a:ext cx="2158410" cy="153108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A23106-16A7-0402-8D85-CC5BA6B8866F}"/>
              </a:ext>
            </a:extLst>
          </p:cNvPr>
          <p:cNvSpPr/>
          <p:nvPr/>
        </p:nvSpPr>
        <p:spPr>
          <a:xfrm>
            <a:off x="4736821" y="2381693"/>
            <a:ext cx="2158410" cy="153108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3670AF-16A0-77DC-A771-3A1E987A52E6}"/>
              </a:ext>
            </a:extLst>
          </p:cNvPr>
          <p:cNvSpPr/>
          <p:nvPr/>
        </p:nvSpPr>
        <p:spPr>
          <a:xfrm>
            <a:off x="8277463" y="2380512"/>
            <a:ext cx="2158410" cy="1531088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0D0C416-F9B6-F6D9-521A-A73DA63B76FE}"/>
              </a:ext>
            </a:extLst>
          </p:cNvPr>
          <p:cNvSpPr/>
          <p:nvPr/>
        </p:nvSpPr>
        <p:spPr>
          <a:xfrm>
            <a:off x="3742677" y="2784788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6A8EB96-CE71-D6BD-036D-BB8FAFC568D3}"/>
              </a:ext>
            </a:extLst>
          </p:cNvPr>
          <p:cNvSpPr/>
          <p:nvPr/>
        </p:nvSpPr>
        <p:spPr>
          <a:xfrm>
            <a:off x="7194713" y="2784788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66">
            <a:extLst>
              <a:ext uri="{FF2B5EF4-FFF2-40B4-BE49-F238E27FC236}">
                <a16:creationId xmlns:a16="http://schemas.microsoft.com/office/drawing/2014/main" id="{F3D7DD31-73FC-BF36-0F65-A167436F31AC}"/>
              </a:ext>
            </a:extLst>
          </p:cNvPr>
          <p:cNvSpPr txBox="1"/>
          <p:nvPr/>
        </p:nvSpPr>
        <p:spPr>
          <a:xfrm>
            <a:off x="1609961" y="2819996"/>
            <a:ext cx="1574415" cy="948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5" marR="11430">
              <a:spcBef>
                <a:spcPts val="775"/>
              </a:spcBef>
              <a:buNone/>
            </a:pP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Siapkan</a:t>
            </a:r>
            <a:r>
              <a:rPr lang="id-ID" sz="1050" b="1" spc="-3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Silabus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Buat/import kompetensi &amp; deliverable untuk track Tahun 1 atau Tahun 2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Textbox 68">
            <a:extLst>
              <a:ext uri="{FF2B5EF4-FFF2-40B4-BE49-F238E27FC236}">
                <a16:creationId xmlns:a16="http://schemas.microsoft.com/office/drawing/2014/main" id="{283DDD72-28CE-C5DF-A28F-C3BDCD486030}"/>
              </a:ext>
            </a:extLst>
          </p:cNvPr>
          <p:cNvSpPr txBox="1"/>
          <p:nvPr/>
        </p:nvSpPr>
        <p:spPr>
          <a:xfrm>
            <a:off x="4940503" y="2627435"/>
            <a:ext cx="1535642" cy="135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11430">
              <a:spcBef>
                <a:spcPts val="105"/>
              </a:spcBef>
              <a:buNone/>
            </a:pPr>
            <a:endParaRPr lang="en-US" sz="1100" spc="-25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775"/>
              </a:spcBef>
              <a:buNone/>
            </a:pPr>
            <a:r>
              <a:rPr lang="id-ID" sz="1000" b="1" spc="-35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Upload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Guidance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7625" marR="59055" indent="-635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Unggah dokumen panduan</a:t>
            </a:r>
            <a:r>
              <a:rPr lang="id-ID" sz="1000" spc="-7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belajar</a:t>
            </a:r>
            <a:r>
              <a:rPr lang="id-ID" sz="1000" spc="-6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 </a:t>
            </a:r>
            <a:r>
              <a:rPr lang="id-ID" sz="100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Textbox 70">
            <a:extLst>
              <a:ext uri="{FF2B5EF4-FFF2-40B4-BE49-F238E27FC236}">
                <a16:creationId xmlns:a16="http://schemas.microsoft.com/office/drawing/2014/main" id="{6D03E342-E31C-4172-75C2-4C3D3E2CB0B6}"/>
              </a:ext>
            </a:extLst>
          </p:cNvPr>
          <p:cNvSpPr txBox="1"/>
          <p:nvPr/>
        </p:nvSpPr>
        <p:spPr>
          <a:xfrm>
            <a:off x="8523691" y="2821263"/>
            <a:ext cx="1957374" cy="1170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200" marR="154940" indent="-457200">
              <a:lnSpc>
                <a:spcPct val="130000"/>
              </a:lnSpc>
              <a:spcBef>
                <a:spcPts val="775"/>
              </a:spcBef>
              <a:buNone/>
            </a:pPr>
            <a:r>
              <a:rPr lang="id-ID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Mapping</a:t>
            </a:r>
            <a:r>
              <a:rPr lang="id-ID" sz="1050" b="1" spc="-7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Coach- 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Coachee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 indent="22860">
              <a:lnSpc>
                <a:spcPts val="1430"/>
              </a:lnSpc>
              <a:buNone/>
            </a:pP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Assign</a:t>
            </a:r>
            <a:r>
              <a:rPr lang="id-ID" sz="1000" spc="-7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pasangan</a:t>
            </a:r>
            <a:r>
              <a:rPr lang="id-ID" sz="1000" spc="-6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coach</a:t>
            </a:r>
            <a:r>
              <a:rPr lang="id-ID" sz="1000" spc="-6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&amp; coachee ke track tertentu </a:t>
            </a:r>
            <a:r>
              <a:rPr lang="id-ID" sz="100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(misal:</a:t>
            </a:r>
            <a:r>
              <a:rPr lang="id-ID" sz="1000" spc="-3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Operator</a:t>
            </a:r>
            <a:r>
              <a:rPr lang="id-ID" sz="1000" spc="-2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-</a:t>
            </a:r>
            <a:r>
              <a:rPr lang="id-ID" sz="1000" spc="-3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id-ID" sz="1000" spc="-25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1)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7D7FAB8C-360E-64E1-170B-0D3EECA34DB2}"/>
              </a:ext>
            </a:extLst>
          </p:cNvPr>
          <p:cNvSpPr/>
          <p:nvPr/>
        </p:nvSpPr>
        <p:spPr>
          <a:xfrm>
            <a:off x="1353891" y="224553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F096BA43-8E74-1B23-1418-8099D961C0D9}"/>
              </a:ext>
            </a:extLst>
          </p:cNvPr>
          <p:cNvSpPr/>
          <p:nvPr/>
        </p:nvSpPr>
        <p:spPr>
          <a:xfrm>
            <a:off x="4538343" y="222479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0070E1FC-717D-97B8-EA66-5A7A272F5BDD}"/>
              </a:ext>
            </a:extLst>
          </p:cNvPr>
          <p:cNvSpPr/>
          <p:nvPr/>
        </p:nvSpPr>
        <p:spPr>
          <a:xfrm>
            <a:off x="8232271" y="2224791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096D-E298-DFAF-56D1-9A5F3467924E}"/>
              </a:ext>
            </a:extLst>
          </p:cNvPr>
          <p:cNvSpPr txBox="1"/>
          <p:nvPr/>
        </p:nvSpPr>
        <p:spPr>
          <a:xfrm>
            <a:off x="1804883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9A62C0-06AC-B922-D0BD-5B62D3BAE1B2}"/>
              </a:ext>
            </a:extLst>
          </p:cNvPr>
          <p:cNvSpPr txBox="1"/>
          <p:nvPr/>
        </p:nvSpPr>
        <p:spPr>
          <a:xfrm>
            <a:off x="5069978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F64FF8-BBFB-145B-B3F7-F2A4380EA926}"/>
              </a:ext>
            </a:extLst>
          </p:cNvPr>
          <p:cNvSpPr txBox="1"/>
          <p:nvPr/>
        </p:nvSpPr>
        <p:spPr>
          <a:xfrm>
            <a:off x="8681515" y="207599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3" name="Arrow: U-Turn 22">
            <a:extLst>
              <a:ext uri="{FF2B5EF4-FFF2-40B4-BE49-F238E27FC236}">
                <a16:creationId xmlns:a16="http://schemas.microsoft.com/office/drawing/2014/main" id="{40355C9E-F2C3-90A2-457B-3E6D195B1A77}"/>
              </a:ext>
            </a:extLst>
          </p:cNvPr>
          <p:cNvSpPr/>
          <p:nvPr/>
        </p:nvSpPr>
        <p:spPr>
          <a:xfrm rot="5400000">
            <a:off x="9945474" y="3636811"/>
            <a:ext cx="2593399" cy="1063255"/>
          </a:xfrm>
          <a:prstGeom prst="uturn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150414C-076F-3FD3-9DAA-3B386EE6BE2E}"/>
              </a:ext>
            </a:extLst>
          </p:cNvPr>
          <p:cNvSpPr/>
          <p:nvPr/>
        </p:nvSpPr>
        <p:spPr>
          <a:xfrm>
            <a:off x="8348351" y="4505529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Review &amp; Coaching </a:t>
            </a:r>
          </a:p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Buka Plan IDP → lihat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deliverable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1/2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yang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0795">
              <a:spcBef>
                <a:spcPts val="10"/>
              </a:spcBef>
              <a:buNone/>
            </a:pP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harus</a:t>
            </a:r>
            <a:r>
              <a:rPr lang="id-ID" sz="1000" spc="-6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dikerjakan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BB361F6E-F776-72F5-1D83-F15B86281648}"/>
              </a:ext>
            </a:extLst>
          </p:cNvPr>
          <p:cNvSpPr/>
          <p:nvPr/>
        </p:nvSpPr>
        <p:spPr>
          <a:xfrm>
            <a:off x="10108922" y="4296606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23B1DF-B7F2-1B92-0D10-0A82B8318DA6}"/>
              </a:ext>
            </a:extLst>
          </p:cNvPr>
          <p:cNvSpPr txBox="1"/>
          <p:nvPr/>
        </p:nvSpPr>
        <p:spPr>
          <a:xfrm>
            <a:off x="8967487" y="4197948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Coachee</a:t>
            </a:r>
            <a:endParaRPr lang="en-US" sz="2000" b="1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4F53D2-B76B-E50A-D38E-E79BFFBFC26B}"/>
              </a:ext>
            </a:extLst>
          </p:cNvPr>
          <p:cNvSpPr/>
          <p:nvPr/>
        </p:nvSpPr>
        <p:spPr>
          <a:xfrm>
            <a:off x="4736821" y="4498076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Submit Evidence</a:t>
            </a:r>
          </a:p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Kerjakan deliverable, upload</a:t>
            </a:r>
            <a:r>
              <a:rPr lang="id-ID" sz="1000" spc="-7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bukti</a:t>
            </a:r>
            <a:r>
              <a:rPr lang="id-ID" sz="1000" spc="-7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(PDF,</a:t>
            </a:r>
            <a:r>
              <a:rPr lang="id-ID" sz="1000" spc="-6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foto,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" marR="11430">
              <a:spcBef>
                <a:spcPts val="10"/>
              </a:spcBef>
              <a:buNone/>
            </a:pP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dokumen)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9BC0D060-15C1-0F7F-508B-4B8DAD3323DF}"/>
              </a:ext>
            </a:extLst>
          </p:cNvPr>
          <p:cNvSpPr/>
          <p:nvPr/>
        </p:nvSpPr>
        <p:spPr>
          <a:xfrm>
            <a:off x="6497392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C12D2E-BE8E-4997-F0C0-C96EF2F4970F}"/>
              </a:ext>
            </a:extLst>
          </p:cNvPr>
          <p:cNvSpPr txBox="1"/>
          <p:nvPr/>
        </p:nvSpPr>
        <p:spPr>
          <a:xfrm>
            <a:off x="5057598" y="4168438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/>
              <a:t>Coachee</a:t>
            </a:r>
            <a:endParaRPr lang="en-US" sz="20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E121CD6-78B9-B05B-BA86-FCC8CC279A20}"/>
              </a:ext>
            </a:extLst>
          </p:cNvPr>
          <p:cNvSpPr/>
          <p:nvPr/>
        </p:nvSpPr>
        <p:spPr>
          <a:xfrm>
            <a:off x="1466867" y="4498076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6515" marR="0" indent="-5715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spc="-3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Lihat</a:t>
            </a:r>
            <a:r>
              <a:rPr lang="en-US" sz="1000" b="1" spc="-3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IDP</a:t>
            </a:r>
          </a:p>
          <a:p>
            <a:pPr marR="0">
              <a:lnSpc>
                <a:spcPct val="130000"/>
              </a:lnSpc>
              <a:spcBef>
                <a:spcPts val="130"/>
              </a:spcBef>
              <a:buNone/>
            </a:pPr>
            <a:r>
              <a:rPr lang="id-ID" sz="1000" spc="-3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Periksa</a:t>
            </a:r>
            <a:r>
              <a:rPr lang="id-ID" sz="1000" spc="-35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3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evidence,</a:t>
            </a:r>
            <a:r>
              <a:rPr lang="id-ID" sz="1000" spc="-35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3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isi </a:t>
            </a:r>
            <a:r>
              <a:rPr lang="id-ID" sz="100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catatan</a:t>
            </a:r>
            <a:r>
              <a:rPr lang="en-US" sz="100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coaching,</a:t>
            </a:r>
            <a:endParaRPr lang="en-US" sz="1200" dirty="0"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7475" marR="0" indent="-117475">
              <a:spcBef>
                <a:spcPts val="10"/>
              </a:spcBef>
              <a:buNone/>
            </a:pPr>
            <a:r>
              <a:rPr lang="id-ID" sz="1000" spc="-1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approve/reject</a:t>
            </a:r>
            <a:endParaRPr lang="en-US" sz="1200" dirty="0"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A67B383-E94E-1761-FF20-3790F0278958}"/>
              </a:ext>
            </a:extLst>
          </p:cNvPr>
          <p:cNvSpPr/>
          <p:nvPr/>
        </p:nvSpPr>
        <p:spPr>
          <a:xfrm>
            <a:off x="3227438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49F684-7682-4E30-7C54-35FEBD99FE2F}"/>
              </a:ext>
            </a:extLst>
          </p:cNvPr>
          <p:cNvSpPr txBox="1"/>
          <p:nvPr/>
        </p:nvSpPr>
        <p:spPr>
          <a:xfrm>
            <a:off x="1882218" y="4154717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Coach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AA603EA-AFC9-EDAC-4D15-84FDA1FFF0B5}"/>
              </a:ext>
            </a:extLst>
          </p:cNvPr>
          <p:cNvSpPr/>
          <p:nvPr/>
        </p:nvSpPr>
        <p:spPr>
          <a:xfrm rot="10800000">
            <a:off x="7194713" y="5019048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D7D59C8-29E0-DC93-62E5-592358B55E2E}"/>
              </a:ext>
            </a:extLst>
          </p:cNvPr>
          <p:cNvSpPr/>
          <p:nvPr/>
        </p:nvSpPr>
        <p:spPr>
          <a:xfrm rot="10800000">
            <a:off x="3777011" y="5019048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Bent 34">
            <a:extLst>
              <a:ext uri="{FF2B5EF4-FFF2-40B4-BE49-F238E27FC236}">
                <a16:creationId xmlns:a16="http://schemas.microsoft.com/office/drawing/2014/main" id="{CD936443-54E6-8D7B-F0D9-035BD3ACB388}"/>
              </a:ext>
            </a:extLst>
          </p:cNvPr>
          <p:cNvSpPr/>
          <p:nvPr/>
        </p:nvSpPr>
        <p:spPr>
          <a:xfrm rot="5400000" flipV="1">
            <a:off x="74070" y="5325684"/>
            <a:ext cx="1379335" cy="998688"/>
          </a:xfrm>
          <a:prstGeom prst="bentArrow">
            <a:avLst>
              <a:gd name="adj1" fmla="val 25000"/>
              <a:gd name="adj2" fmla="val 27117"/>
              <a:gd name="adj3" fmla="val 25000"/>
              <a:gd name="adj4" fmla="val 4375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8D5A60BA-ADB3-317F-FE87-C46C373C44E5}"/>
              </a:ext>
            </a:extLst>
          </p:cNvPr>
          <p:cNvSpPr txBox="1"/>
          <p:nvPr/>
        </p:nvSpPr>
        <p:spPr>
          <a:xfrm>
            <a:off x="0" y="5478665"/>
            <a:ext cx="12191999" cy="137933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1335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F9516-CAC1-9291-34C4-F6D4013CC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F5A68D-D2C3-25E7-CB10-349E5AF769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D252F-B259-8678-7D19-E3B6DBD4751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C48241-B8FB-9C59-92C9-CA28A0BDB13D}"/>
              </a:ext>
            </a:extLst>
          </p:cNvPr>
          <p:cNvSpPr/>
          <p:nvPr/>
        </p:nvSpPr>
        <p:spPr>
          <a:xfrm>
            <a:off x="446585" y="1722474"/>
            <a:ext cx="2158410" cy="15310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>
              <a:lnSpc>
                <a:spcPct val="130000"/>
              </a:lnSpc>
              <a:spcBef>
                <a:spcPts val="775"/>
              </a:spcBef>
              <a:buNone/>
            </a:pPr>
            <a:endParaRPr lang="en-US" sz="950" b="1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22C3916-4278-0477-8017-348D256439CF}"/>
              </a:ext>
            </a:extLst>
          </p:cNvPr>
          <p:cNvSpPr/>
          <p:nvPr/>
        </p:nvSpPr>
        <p:spPr>
          <a:xfrm>
            <a:off x="37569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0235B-4E97-1B2A-8F6E-2563ACD160C9}"/>
              </a:ext>
            </a:extLst>
          </p:cNvPr>
          <p:cNvSpPr txBox="1"/>
          <p:nvPr/>
        </p:nvSpPr>
        <p:spPr>
          <a:xfrm>
            <a:off x="821386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9C8159-570A-7A78-0BF7-8AB79E6FA83E}"/>
              </a:ext>
            </a:extLst>
          </p:cNvPr>
          <p:cNvSpPr/>
          <p:nvPr/>
        </p:nvSpPr>
        <p:spPr>
          <a:xfrm>
            <a:off x="4173315" y="1722474"/>
            <a:ext cx="2158410" cy="15310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spcBef>
                <a:spcPts val="775"/>
              </a:spcBef>
              <a:buNone/>
            </a:pPr>
            <a:r>
              <a:rPr lang="en-US" sz="1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Hitung</a:t>
            </a: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Progress         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Persentase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penyelesaian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semua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deliverable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dalam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track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531728B8-ED47-68DD-DE2C-A2F9F6CDEEB0}"/>
              </a:ext>
            </a:extLst>
          </p:cNvPr>
          <p:cNvSpPr/>
          <p:nvPr/>
        </p:nvSpPr>
        <p:spPr>
          <a:xfrm>
            <a:off x="410242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8A351-AF9C-C9F3-CDDE-11F3A0DF90E2}"/>
              </a:ext>
            </a:extLst>
          </p:cNvPr>
          <p:cNvSpPr txBox="1"/>
          <p:nvPr/>
        </p:nvSpPr>
        <p:spPr>
          <a:xfrm>
            <a:off x="4602158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Sistem</a:t>
            </a:r>
            <a:r>
              <a:rPr lang="en-US" sz="2000" b="1" dirty="0"/>
              <a:t>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B34B0D-D6DC-1279-BE2E-16C05B5FC0D3}"/>
              </a:ext>
            </a:extLst>
          </p:cNvPr>
          <p:cNvSpPr/>
          <p:nvPr/>
        </p:nvSpPr>
        <p:spPr>
          <a:xfrm>
            <a:off x="8112709" y="1722474"/>
            <a:ext cx="2158410" cy="15310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>
              <a:spcBef>
                <a:spcPts val="775"/>
              </a:spcBef>
              <a:buNone/>
            </a:pPr>
            <a:r>
              <a:rPr lang="en-US" sz="1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Sertifikasi</a:t>
            </a: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                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Semua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deliverable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selesai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id-ID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HC Approve </a:t>
            </a:r>
            <a:r>
              <a:rPr lang="en-US" sz="1000" spc="-4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Sertifikasi</a:t>
            </a:r>
            <a:r>
              <a:rPr lang="en-US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→</a:t>
            </a:r>
            <a:r>
              <a:rPr lang="id-ID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spc="-4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lanjut</a:t>
            </a:r>
            <a:r>
              <a:rPr lang="en-US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spc="-4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</a:t>
            </a:r>
            <a:r>
              <a:rPr lang="en-US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spc="-4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en-US" sz="1000" spc="-4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spc="-4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berikutnya</a:t>
            </a:r>
            <a:endParaRPr lang="en-US" sz="1000" dirty="0"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58A1C13-AAE8-EAE8-668C-6FF613E2EF9B}"/>
              </a:ext>
            </a:extLst>
          </p:cNvPr>
          <p:cNvSpPr/>
          <p:nvPr/>
        </p:nvSpPr>
        <p:spPr>
          <a:xfrm>
            <a:off x="8041821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010CD-06C1-A007-5737-C5C2C343BF45}"/>
              </a:ext>
            </a:extLst>
          </p:cNvPr>
          <p:cNvSpPr txBox="1"/>
          <p:nvPr/>
        </p:nvSpPr>
        <p:spPr>
          <a:xfrm>
            <a:off x="8506981" y="1415031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CB7EBF-85E1-14CA-CFB4-14F58F15DE9E}"/>
              </a:ext>
            </a:extLst>
          </p:cNvPr>
          <p:cNvSpPr/>
          <p:nvPr/>
        </p:nvSpPr>
        <p:spPr>
          <a:xfrm>
            <a:off x="3051580" y="2264973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F0E5CAE-7430-AFDD-21DD-38C603060AFE}"/>
              </a:ext>
            </a:extLst>
          </p:cNvPr>
          <p:cNvSpPr/>
          <p:nvPr/>
        </p:nvSpPr>
        <p:spPr>
          <a:xfrm>
            <a:off x="6818179" y="2322989"/>
            <a:ext cx="808075" cy="446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2650D-99A3-2A55-C39D-78F9AB8D2DFE}"/>
              </a:ext>
            </a:extLst>
          </p:cNvPr>
          <p:cNvSpPr txBox="1"/>
          <p:nvPr/>
        </p:nvSpPr>
        <p:spPr>
          <a:xfrm>
            <a:off x="659219" y="2264973"/>
            <a:ext cx="1767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HC Review                            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akhir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deliverable yang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disapprove coach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0AA4B5A1-5F7F-B1C9-716C-D8414B09BD89}"/>
              </a:ext>
            </a:extLst>
          </p:cNvPr>
          <p:cNvSpPr/>
          <p:nvPr/>
        </p:nvSpPr>
        <p:spPr>
          <a:xfrm>
            <a:off x="0" y="6060558"/>
            <a:ext cx="12191999" cy="797442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4328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A7AD1-CB5F-2F53-F487-33A31CE09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28E17C-6EF0-4CC6-9E87-31FB94C967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1E663-88F0-D776-A068-8AF7A1736E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03F09D60-AA61-B97F-B444-D64F6A77164A}"/>
              </a:ext>
            </a:extLst>
          </p:cNvPr>
          <p:cNvGrpSpPr/>
          <p:nvPr/>
        </p:nvGrpSpPr>
        <p:grpSpPr>
          <a:xfrm>
            <a:off x="146050" y="1103956"/>
            <a:ext cx="149849" cy="61466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6675E322-CEDF-66CD-F39F-3FCE662C2DDC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C7A8376F-5C15-0AAF-A468-3F15EF90D84D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" name="TextBox 11">
            <a:extLst>
              <a:ext uri="{FF2B5EF4-FFF2-40B4-BE49-F238E27FC236}">
                <a16:creationId xmlns:a16="http://schemas.microsoft.com/office/drawing/2014/main" id="{F17BB941-78C3-B2C6-7377-AA7024970620}"/>
              </a:ext>
            </a:extLst>
          </p:cNvPr>
          <p:cNvSpPr txBox="1"/>
          <p:nvPr/>
        </p:nvSpPr>
        <p:spPr>
          <a:xfrm>
            <a:off x="441949" y="1171103"/>
            <a:ext cx="4374600" cy="547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Coaching </a:t>
            </a:r>
            <a:r>
              <a:rPr lang="en-US" sz="3200" b="1" dirty="0" err="1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Tahun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1771D5-7753-72AD-765C-FB9369FD3690}"/>
              </a:ext>
            </a:extLst>
          </p:cNvPr>
          <p:cNvSpPr/>
          <p:nvPr/>
        </p:nvSpPr>
        <p:spPr>
          <a:xfrm>
            <a:off x="1424779" y="2381693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94C105-602A-03B8-CD66-015FAA902E94}"/>
              </a:ext>
            </a:extLst>
          </p:cNvPr>
          <p:cNvSpPr/>
          <p:nvPr/>
        </p:nvSpPr>
        <p:spPr>
          <a:xfrm>
            <a:off x="4736821" y="2381693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EF55A6-9A39-B2BF-BCD3-33721267A426}"/>
              </a:ext>
            </a:extLst>
          </p:cNvPr>
          <p:cNvSpPr/>
          <p:nvPr/>
        </p:nvSpPr>
        <p:spPr>
          <a:xfrm>
            <a:off x="8277463" y="2380512"/>
            <a:ext cx="2158410" cy="153108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AA5816B-820A-601B-6941-C1218F48BD5E}"/>
              </a:ext>
            </a:extLst>
          </p:cNvPr>
          <p:cNvSpPr/>
          <p:nvPr/>
        </p:nvSpPr>
        <p:spPr>
          <a:xfrm>
            <a:off x="3742677" y="2784788"/>
            <a:ext cx="808075" cy="44609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57F08EE-4770-EE78-D289-8667C37892B9}"/>
              </a:ext>
            </a:extLst>
          </p:cNvPr>
          <p:cNvSpPr/>
          <p:nvPr/>
        </p:nvSpPr>
        <p:spPr>
          <a:xfrm>
            <a:off x="7194713" y="2784788"/>
            <a:ext cx="808075" cy="44609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66">
            <a:extLst>
              <a:ext uri="{FF2B5EF4-FFF2-40B4-BE49-F238E27FC236}">
                <a16:creationId xmlns:a16="http://schemas.microsoft.com/office/drawing/2014/main" id="{8B134168-5803-38FF-9DD3-7881C9599B57}"/>
              </a:ext>
            </a:extLst>
          </p:cNvPr>
          <p:cNvSpPr txBox="1"/>
          <p:nvPr/>
        </p:nvSpPr>
        <p:spPr>
          <a:xfrm>
            <a:off x="1609961" y="2819996"/>
            <a:ext cx="1574415" cy="9480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35" marR="11430">
              <a:spcBef>
                <a:spcPts val="775"/>
              </a:spcBef>
              <a:buNone/>
            </a:pPr>
            <a:r>
              <a:rPr lang="id-ID" sz="1000" b="1" spc="-2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Siapkan</a:t>
            </a:r>
            <a:r>
              <a:rPr lang="id-ID" sz="1050" b="1" spc="-3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50" b="1" spc="-10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Silabus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 &amp; deliverable level mahir, berbeda dari Tahun 1 &amp; 2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Textbox 68">
            <a:extLst>
              <a:ext uri="{FF2B5EF4-FFF2-40B4-BE49-F238E27FC236}">
                <a16:creationId xmlns:a16="http://schemas.microsoft.com/office/drawing/2014/main" id="{B187EEA1-1ED9-95A0-E6EA-1AC46FC094B1}"/>
              </a:ext>
            </a:extLst>
          </p:cNvPr>
          <p:cNvSpPr txBox="1"/>
          <p:nvPr/>
        </p:nvSpPr>
        <p:spPr>
          <a:xfrm>
            <a:off x="4940503" y="2627435"/>
            <a:ext cx="1535642" cy="13525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spcBef>
                <a:spcPts val="775"/>
              </a:spcBef>
              <a:buNone/>
            </a:pPr>
            <a:r>
              <a:rPr lang="en-US" sz="1100" spc="-25" dirty="0">
                <a:latin typeface="Arial" panose="020B0604020202020204" pitchFamily="34" charset="0"/>
                <a:ea typeface="Arial" panose="020B0604020202020204" pitchFamily="34" charset="0"/>
              </a:rPr>
              <a:t>                             </a:t>
            </a:r>
            <a:r>
              <a:rPr lang="en-US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Mapping </a:t>
            </a:r>
            <a:r>
              <a:rPr lang="en-US" sz="1050" b="1" dirty="0" err="1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</a:t>
            </a:r>
            <a:r>
              <a:rPr lang="en-US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Track </a:t>
            </a:r>
            <a:r>
              <a:rPr lang="en-US" sz="1050" b="1" dirty="0" err="1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en-US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3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7625" marR="59055" indent="-635">
              <a:lnSpc>
                <a:spcPts val="1400"/>
              </a:lnSpc>
              <a:spcBef>
                <a:spcPts val="315"/>
              </a:spcBef>
              <a:buNone/>
            </a:pPr>
            <a:r>
              <a:rPr lang="id-ID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Assign coachee yang sudah selesai Tahun 2 ke track Tahun 3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5" name="Textbox 70">
            <a:extLst>
              <a:ext uri="{FF2B5EF4-FFF2-40B4-BE49-F238E27FC236}">
                <a16:creationId xmlns:a16="http://schemas.microsoft.com/office/drawing/2014/main" id="{BA4BD616-C38F-35BA-A338-F764F0EECF91}"/>
              </a:ext>
            </a:extLst>
          </p:cNvPr>
          <p:cNvSpPr txBox="1"/>
          <p:nvPr/>
        </p:nvSpPr>
        <p:spPr>
          <a:xfrm>
            <a:off x="8523691" y="2821263"/>
            <a:ext cx="1957374" cy="1170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54940">
              <a:lnSpc>
                <a:spcPct val="130000"/>
              </a:lnSpc>
              <a:spcBef>
                <a:spcPts val="775"/>
              </a:spcBef>
              <a:buNone/>
            </a:pPr>
            <a:r>
              <a:rPr lang="id-ID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Kerjakan Deliverable</a:t>
            </a:r>
            <a:r>
              <a:rPr lang="en-US" sz="1050" b="1" dirty="0">
                <a:solidFill>
                  <a:srgbClr val="1A1A1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US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Submit evidence untuk deliverable </a:t>
            </a:r>
            <a:r>
              <a:rPr lang="en-US" sz="1000" dirty="0" err="1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en-US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3 (proses </a:t>
            </a:r>
            <a:r>
              <a:rPr lang="en-US" sz="1000" dirty="0" err="1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sama</a:t>
            </a:r>
            <a:r>
              <a:rPr lang="en-US" sz="1000" dirty="0">
                <a:solidFill>
                  <a:srgbClr val="1565BF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coach review → HC review)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557788B-C17E-96E8-042F-10AD12A8666E}"/>
              </a:ext>
            </a:extLst>
          </p:cNvPr>
          <p:cNvSpPr/>
          <p:nvPr/>
        </p:nvSpPr>
        <p:spPr>
          <a:xfrm>
            <a:off x="1353891" y="224553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1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40C3D93-EB9B-4E08-C3BB-106FF2514650}"/>
              </a:ext>
            </a:extLst>
          </p:cNvPr>
          <p:cNvSpPr/>
          <p:nvPr/>
        </p:nvSpPr>
        <p:spPr>
          <a:xfrm>
            <a:off x="4538343" y="2224792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2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EA47E2E-1080-DEB1-87C7-6D610A67A3EC}"/>
              </a:ext>
            </a:extLst>
          </p:cNvPr>
          <p:cNvSpPr/>
          <p:nvPr/>
        </p:nvSpPr>
        <p:spPr>
          <a:xfrm>
            <a:off x="8232271" y="2224791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7B3175-076F-53DA-9972-68B579A86445}"/>
              </a:ext>
            </a:extLst>
          </p:cNvPr>
          <p:cNvSpPr txBox="1"/>
          <p:nvPr/>
        </p:nvSpPr>
        <p:spPr>
          <a:xfrm>
            <a:off x="1804883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B2E8C-A9C3-9136-6B23-C2E5C489017D}"/>
              </a:ext>
            </a:extLst>
          </p:cNvPr>
          <p:cNvSpPr txBox="1"/>
          <p:nvPr/>
        </p:nvSpPr>
        <p:spPr>
          <a:xfrm>
            <a:off x="5069978" y="208465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Admin/HC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48381-94D0-CFD2-B6C8-E358570741B8}"/>
              </a:ext>
            </a:extLst>
          </p:cNvPr>
          <p:cNvSpPr txBox="1"/>
          <p:nvPr/>
        </p:nvSpPr>
        <p:spPr>
          <a:xfrm>
            <a:off x="8681515" y="2075996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Coachee</a:t>
            </a:r>
            <a:endParaRPr lang="en-US" sz="2000" b="1" dirty="0"/>
          </a:p>
        </p:txBody>
      </p:sp>
      <p:sp>
        <p:nvSpPr>
          <p:cNvPr id="22" name="Arrow: U-Turn 21">
            <a:extLst>
              <a:ext uri="{FF2B5EF4-FFF2-40B4-BE49-F238E27FC236}">
                <a16:creationId xmlns:a16="http://schemas.microsoft.com/office/drawing/2014/main" id="{1595A20A-4329-D81C-8F85-A0C662F4B14A}"/>
              </a:ext>
            </a:extLst>
          </p:cNvPr>
          <p:cNvSpPr/>
          <p:nvPr/>
        </p:nvSpPr>
        <p:spPr>
          <a:xfrm rot="5400000">
            <a:off x="9945474" y="3636811"/>
            <a:ext cx="2593399" cy="1063255"/>
          </a:xfrm>
          <a:prstGeom prst="uturnArrow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B5FF36-7B2B-024F-4670-B726809E575E}"/>
              </a:ext>
            </a:extLst>
          </p:cNvPr>
          <p:cNvSpPr/>
          <p:nvPr/>
        </p:nvSpPr>
        <p:spPr>
          <a:xfrm>
            <a:off x="8348351" y="4505529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Eligible untuk Final Assessment                       </a:t>
            </a: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Buka Plan IDP → lihat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deliverable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1/2</a:t>
            </a:r>
            <a:r>
              <a:rPr lang="id-ID" sz="1000" spc="-55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yang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0795">
              <a:spcBef>
                <a:spcPts val="10"/>
              </a:spcBef>
              <a:buNone/>
            </a:pP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harus</a:t>
            </a:r>
            <a:r>
              <a:rPr lang="id-ID" sz="1000" spc="-6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000" spc="-1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dikerjakan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018492F2-085D-2F71-652B-C32D1B48029A}"/>
              </a:ext>
            </a:extLst>
          </p:cNvPr>
          <p:cNvSpPr/>
          <p:nvPr/>
        </p:nvSpPr>
        <p:spPr>
          <a:xfrm>
            <a:off x="10108922" y="4296606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959BA0-D050-9BAB-B3DA-8027C6424374}"/>
              </a:ext>
            </a:extLst>
          </p:cNvPr>
          <p:cNvSpPr txBox="1"/>
          <p:nvPr/>
        </p:nvSpPr>
        <p:spPr>
          <a:xfrm>
            <a:off x="7774601" y="4197948"/>
            <a:ext cx="2570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Deliverable </a:t>
            </a:r>
            <a:r>
              <a:rPr lang="en-US" sz="2000" b="1" dirty="0" err="1"/>
              <a:t>Selesai</a:t>
            </a:r>
            <a:endParaRPr lang="en-US" sz="20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4F62059-5327-CD19-AF96-05516F741B3C}"/>
              </a:ext>
            </a:extLst>
          </p:cNvPr>
          <p:cNvSpPr/>
          <p:nvPr/>
        </p:nvSpPr>
        <p:spPr>
          <a:xfrm>
            <a:off x="4736821" y="4498076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Interview Offline</a:t>
            </a:r>
            <a:endParaRPr lang="en-US" sz="1000" b="1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11430">
              <a:lnSpc>
                <a:spcPct val="130000"/>
              </a:lnSpc>
              <a:spcBef>
                <a:spcPts val="130"/>
              </a:spcBef>
              <a:buNone/>
            </a:pPr>
            <a:r>
              <a:rPr lang="id-ID" sz="1000" dirty="0">
                <a:solidFill>
                  <a:srgbClr val="2E7D32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Panel juri menilai 5 aspek kompetensi (skor 1–5 per aspek), catatan, dokumen pendukung</a:t>
            </a:r>
            <a:endParaRPr lang="en-U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C608F39-3F2C-90FC-D848-4CF42038B80E}"/>
              </a:ext>
            </a:extLst>
          </p:cNvPr>
          <p:cNvSpPr/>
          <p:nvPr/>
        </p:nvSpPr>
        <p:spPr>
          <a:xfrm>
            <a:off x="6497392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7CAD1A-D3EA-4C6D-30B1-727FFFC30295}"/>
              </a:ext>
            </a:extLst>
          </p:cNvPr>
          <p:cNvSpPr txBox="1"/>
          <p:nvPr/>
        </p:nvSpPr>
        <p:spPr>
          <a:xfrm>
            <a:off x="5057598" y="4168438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Panel Juri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557F40-28FB-1036-69D3-9AD5E6ED14D5}"/>
              </a:ext>
            </a:extLst>
          </p:cNvPr>
          <p:cNvSpPr/>
          <p:nvPr/>
        </p:nvSpPr>
        <p:spPr>
          <a:xfrm>
            <a:off x="1466867" y="4498076"/>
            <a:ext cx="2158410" cy="153108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6515" marR="0" indent="-5715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b="1" spc="-3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Input Hasil Interview</a:t>
            </a:r>
            <a:endParaRPr lang="en-US" sz="1000" b="1" spc="-30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>
              <a:lnSpc>
                <a:spcPct val="130000"/>
              </a:lnSpc>
              <a:spcBef>
                <a:spcPts val="130"/>
              </a:spcBef>
              <a:buNone/>
            </a:pPr>
            <a:r>
              <a:rPr lang="en-US" sz="1000" spc="-3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M</a:t>
            </a:r>
            <a:r>
              <a:rPr lang="id-ID" sz="1000" spc="-30" dirty="0"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asukkan nama juri, skor aspek, catatan, keputusan lulus/tidak lulus ke sistem</a:t>
            </a:r>
            <a:endParaRPr lang="en-US" sz="1200" dirty="0"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66046A0D-50BD-E98E-88E2-F50B00852A62}"/>
              </a:ext>
            </a:extLst>
          </p:cNvPr>
          <p:cNvSpPr/>
          <p:nvPr/>
        </p:nvSpPr>
        <p:spPr>
          <a:xfrm>
            <a:off x="3227438" y="428915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D9F183-745F-0B31-9BCA-D3F28DC79EB8}"/>
              </a:ext>
            </a:extLst>
          </p:cNvPr>
          <p:cNvSpPr txBox="1"/>
          <p:nvPr/>
        </p:nvSpPr>
        <p:spPr>
          <a:xfrm>
            <a:off x="1743314" y="4175739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Admin/HC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A210AC3-B06D-BEEB-3A64-2A07C6A70481}"/>
              </a:ext>
            </a:extLst>
          </p:cNvPr>
          <p:cNvSpPr/>
          <p:nvPr/>
        </p:nvSpPr>
        <p:spPr>
          <a:xfrm rot="10800000">
            <a:off x="7194713" y="5019048"/>
            <a:ext cx="808075" cy="44609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D81F8FF-319A-E8BB-E9CC-DD308EB6912D}"/>
              </a:ext>
            </a:extLst>
          </p:cNvPr>
          <p:cNvSpPr/>
          <p:nvPr/>
        </p:nvSpPr>
        <p:spPr>
          <a:xfrm rot="10800000">
            <a:off x="3777011" y="5019048"/>
            <a:ext cx="808075" cy="44609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Bent 33">
            <a:extLst>
              <a:ext uri="{FF2B5EF4-FFF2-40B4-BE49-F238E27FC236}">
                <a16:creationId xmlns:a16="http://schemas.microsoft.com/office/drawing/2014/main" id="{9386E8F2-DA9C-7ED8-97FF-F89968D295B1}"/>
              </a:ext>
            </a:extLst>
          </p:cNvPr>
          <p:cNvSpPr/>
          <p:nvPr/>
        </p:nvSpPr>
        <p:spPr>
          <a:xfrm rot="5400000" flipV="1">
            <a:off x="74070" y="5325684"/>
            <a:ext cx="1379335" cy="998688"/>
          </a:xfrm>
          <a:prstGeom prst="bentArrow">
            <a:avLst>
              <a:gd name="adj1" fmla="val 25000"/>
              <a:gd name="adj2" fmla="val 27117"/>
              <a:gd name="adj3" fmla="val 25000"/>
              <a:gd name="adj4" fmla="val 43750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0B9F151B-5FEF-5C40-E0E8-9C72CB50C2FF}"/>
              </a:ext>
            </a:extLst>
          </p:cNvPr>
          <p:cNvSpPr txBox="1"/>
          <p:nvPr/>
        </p:nvSpPr>
        <p:spPr>
          <a:xfrm>
            <a:off x="0" y="5478665"/>
            <a:ext cx="12191999" cy="137933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67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EFB9B-0495-B1EE-D43C-B3D64819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DB7571-79BE-E096-FDCF-3EAFF479F3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F8DFC-CACE-C242-B5BC-632EEAE6B8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9D7177-EB87-3957-8C59-6C299AB9F3B2}"/>
              </a:ext>
            </a:extLst>
          </p:cNvPr>
          <p:cNvSpPr/>
          <p:nvPr/>
        </p:nvSpPr>
        <p:spPr>
          <a:xfrm>
            <a:off x="446585" y="1722474"/>
            <a:ext cx="2158410" cy="1531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>
              <a:lnSpc>
                <a:spcPct val="130000"/>
              </a:lnSpc>
              <a:spcBef>
                <a:spcPts val="775"/>
              </a:spcBef>
              <a:buNone/>
            </a:pPr>
            <a:endParaRPr lang="en-US" sz="950" b="1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E6B5CA48-4C35-0D4E-3CF7-5E944B56D456}"/>
              </a:ext>
            </a:extLst>
          </p:cNvPr>
          <p:cNvSpPr/>
          <p:nvPr/>
        </p:nvSpPr>
        <p:spPr>
          <a:xfrm>
            <a:off x="37569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5CEDC-9BFC-73EA-0C53-055F5BBC0689}"/>
              </a:ext>
            </a:extLst>
          </p:cNvPr>
          <p:cNvSpPr txBox="1"/>
          <p:nvPr/>
        </p:nvSpPr>
        <p:spPr>
          <a:xfrm>
            <a:off x="821386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Sistem</a:t>
            </a:r>
            <a:endParaRPr lang="en-US" sz="2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5D69EC-1121-A281-71BE-46A0BA91515D}"/>
              </a:ext>
            </a:extLst>
          </p:cNvPr>
          <p:cNvSpPr/>
          <p:nvPr/>
        </p:nvSpPr>
        <p:spPr>
          <a:xfrm>
            <a:off x="4173315" y="1722474"/>
            <a:ext cx="2158410" cy="15310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1430">
              <a:spcBef>
                <a:spcPts val="775"/>
              </a:spcBef>
              <a:buNone/>
            </a:pPr>
            <a:r>
              <a:rPr lang="en-US" sz="1000" b="1" dirty="0" err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Sertifikasi</a:t>
            </a:r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Final</a:t>
            </a:r>
            <a:r>
              <a:rPr lang="en-US" sz="1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     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Persentase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penyelesaian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semua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deliverable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dalam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track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51A6DAC-ECFE-0C39-48AE-DBC499C22583}"/>
              </a:ext>
            </a:extLst>
          </p:cNvPr>
          <p:cNvSpPr/>
          <p:nvPr/>
        </p:nvSpPr>
        <p:spPr>
          <a:xfrm>
            <a:off x="4102427" y="1586313"/>
            <a:ext cx="499731" cy="49560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F3D2D-3C08-7EDB-3B27-91254FAE969E}"/>
              </a:ext>
            </a:extLst>
          </p:cNvPr>
          <p:cNvSpPr txBox="1"/>
          <p:nvPr/>
        </p:nvSpPr>
        <p:spPr>
          <a:xfrm>
            <a:off x="4602158" y="1425432"/>
            <a:ext cx="1605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Final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5093B20-2C4E-6AF7-5CA0-7C7EEB15DDA3}"/>
              </a:ext>
            </a:extLst>
          </p:cNvPr>
          <p:cNvSpPr/>
          <p:nvPr/>
        </p:nvSpPr>
        <p:spPr>
          <a:xfrm>
            <a:off x="3051580" y="2264973"/>
            <a:ext cx="808075" cy="446090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11EBA7-EC29-0B63-B544-09261FCA85A2}"/>
              </a:ext>
            </a:extLst>
          </p:cNvPr>
          <p:cNvSpPr txBox="1"/>
          <p:nvPr/>
        </p:nvSpPr>
        <p:spPr>
          <a:xfrm>
            <a:off x="659219" y="2264973"/>
            <a:ext cx="20166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Penetepan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Level </a:t>
            </a:r>
            <a:r>
              <a:rPr lang="en-U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Kompetensi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akhir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deliverable yang </a:t>
            </a:r>
            <a:r>
              <a:rPr lang="en-US" sz="1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sudah</a:t>
            </a:r>
            <a:r>
              <a:rPr lang="en-US" sz="1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disapprove coach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BEAC9FA8-ECEF-B919-5963-4BE228F4F0BE}"/>
              </a:ext>
            </a:extLst>
          </p:cNvPr>
          <p:cNvSpPr/>
          <p:nvPr/>
        </p:nvSpPr>
        <p:spPr>
          <a:xfrm>
            <a:off x="0" y="6049926"/>
            <a:ext cx="12191999" cy="808074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645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5FD4E-2B51-1D27-8DA4-DC3ABF59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94C26E37-0E85-C682-E856-48F48619E205}"/>
              </a:ext>
            </a:extLst>
          </p:cNvPr>
          <p:cNvSpPr/>
          <p:nvPr/>
        </p:nvSpPr>
        <p:spPr>
          <a:xfrm>
            <a:off x="5151823" y="2516119"/>
            <a:ext cx="3525389" cy="14829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7063" indent="-117475"/>
            <a:r>
              <a:rPr lang="en-US" b="1" dirty="0"/>
              <a:t>  </a:t>
            </a:r>
          </a:p>
        </p:txBody>
      </p:sp>
      <p:sp>
        <p:nvSpPr>
          <p:cNvPr id="20" name="Textbox 297">
            <a:extLst>
              <a:ext uri="{FF2B5EF4-FFF2-40B4-BE49-F238E27FC236}">
                <a16:creationId xmlns:a16="http://schemas.microsoft.com/office/drawing/2014/main" id="{6C22537F-A3A1-AD46-B6CA-753BFFBFEA14}"/>
              </a:ext>
            </a:extLst>
          </p:cNvPr>
          <p:cNvSpPr txBox="1"/>
          <p:nvPr/>
        </p:nvSpPr>
        <p:spPr>
          <a:xfrm>
            <a:off x="6024309" y="2748365"/>
            <a:ext cx="2778455" cy="12928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spcBef>
                <a:spcPts val="130"/>
              </a:spcBef>
              <a:buNone/>
            </a:pPr>
            <a:r>
              <a:rPr lang="en-US" sz="16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</a:t>
            </a:r>
            <a:r>
              <a:rPr lang="en-US" sz="1600" b="1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Mahir</a:t>
            </a:r>
          </a:p>
          <a:p>
            <a:pPr marL="0" marR="0">
              <a:buNone/>
            </a:pPr>
            <a:r>
              <a:rPr kumimoji="0" lang="id-ID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Deliverable Tahun 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>
              <a:buNone/>
            </a:pPr>
            <a:r>
              <a:rPr lang="en-US" sz="1200" dirty="0">
                <a:solidFill>
                  <a:prstClr val="white"/>
                </a:solidFill>
                <a:latin typeface="Aptos" panose="02110004020202020204"/>
              </a:rPr>
              <a:t>Coaching &amp; Review Interview Online</a:t>
            </a:r>
          </a:p>
          <a:p>
            <a:pPr marL="0" marR="0">
              <a:buNone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Sertifikasi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Final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A4F6EB14-A8D9-DC3E-F87E-52FF114C0587}"/>
              </a:ext>
            </a:extLst>
          </p:cNvPr>
          <p:cNvSpPr/>
          <p:nvPr/>
        </p:nvSpPr>
        <p:spPr>
          <a:xfrm>
            <a:off x="2419377" y="2516464"/>
            <a:ext cx="3525389" cy="14829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7063" indent="-117475"/>
            <a:r>
              <a:rPr lang="en-US" b="1" dirty="0"/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A6E16-CB64-172D-BF24-E93CE4F740D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grpSp>
        <p:nvGrpSpPr>
          <p:cNvPr id="4" name="Group 7">
            <a:extLst>
              <a:ext uri="{FF2B5EF4-FFF2-40B4-BE49-F238E27FC236}">
                <a16:creationId xmlns:a16="http://schemas.microsoft.com/office/drawing/2014/main" id="{A5FC74BF-6FCB-228F-5846-256D3FA597FE}"/>
              </a:ext>
            </a:extLst>
          </p:cNvPr>
          <p:cNvGrpSpPr/>
          <p:nvPr/>
        </p:nvGrpSpPr>
        <p:grpSpPr>
          <a:xfrm>
            <a:off x="146050" y="1103956"/>
            <a:ext cx="149849" cy="614669"/>
            <a:chOff x="0" y="0"/>
            <a:chExt cx="62581" cy="242832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16048A8-E6EF-BB08-DB8F-7666BFFF0CC9}"/>
                </a:ext>
              </a:extLst>
            </p:cNvPr>
            <p:cNvSpPr/>
            <p:nvPr/>
          </p:nvSpPr>
          <p:spPr>
            <a:xfrm>
              <a:off x="0" y="0"/>
              <a:ext cx="62581" cy="242832"/>
            </a:xfrm>
            <a:custGeom>
              <a:avLst/>
              <a:gdLst/>
              <a:ahLst/>
              <a:cxnLst/>
              <a:rect l="l" t="t" r="r" b="b"/>
              <a:pathLst>
                <a:path w="62581" h="242832">
                  <a:moveTo>
                    <a:pt x="31291" y="0"/>
                  </a:moveTo>
                  <a:lnTo>
                    <a:pt x="31291" y="0"/>
                  </a:lnTo>
                  <a:cubicBezTo>
                    <a:pt x="39589" y="0"/>
                    <a:pt x="47548" y="3297"/>
                    <a:pt x="53416" y="9165"/>
                  </a:cubicBezTo>
                  <a:cubicBezTo>
                    <a:pt x="59285" y="15033"/>
                    <a:pt x="62581" y="22992"/>
                    <a:pt x="62581" y="31291"/>
                  </a:cubicBezTo>
                  <a:lnTo>
                    <a:pt x="62581" y="211542"/>
                  </a:lnTo>
                  <a:cubicBezTo>
                    <a:pt x="62581" y="228823"/>
                    <a:pt x="48572" y="242832"/>
                    <a:pt x="31291" y="242832"/>
                  </a:cubicBezTo>
                  <a:lnTo>
                    <a:pt x="31291" y="242832"/>
                  </a:lnTo>
                  <a:cubicBezTo>
                    <a:pt x="14009" y="242832"/>
                    <a:pt x="0" y="228823"/>
                    <a:pt x="0" y="211542"/>
                  </a:cubicBezTo>
                  <a:lnTo>
                    <a:pt x="0" y="31291"/>
                  </a:lnTo>
                  <a:cubicBezTo>
                    <a:pt x="0" y="14009"/>
                    <a:pt x="14009" y="0"/>
                    <a:pt x="31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589C2">
                    <a:alpha val="100000"/>
                  </a:srgbClr>
                </a:gs>
                <a:gs pos="50000">
                  <a:srgbClr val="3ABDD4">
                    <a:alpha val="100000"/>
                  </a:srgbClr>
                </a:gs>
                <a:gs pos="100000">
                  <a:srgbClr val="93EF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AEB93806-4B8B-DA94-1402-6345BA6A353B}"/>
                </a:ext>
              </a:extLst>
            </p:cNvPr>
            <p:cNvSpPr txBox="1"/>
            <p:nvPr/>
          </p:nvSpPr>
          <p:spPr>
            <a:xfrm>
              <a:off x="0" y="-38100"/>
              <a:ext cx="62581" cy="28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AC879669-9430-0C1D-84EA-DC021EC08A8F}"/>
              </a:ext>
            </a:extLst>
          </p:cNvPr>
          <p:cNvSpPr txBox="1"/>
          <p:nvPr/>
        </p:nvSpPr>
        <p:spPr>
          <a:xfrm>
            <a:off x="441948" y="1171103"/>
            <a:ext cx="11317661" cy="557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4613"/>
              </a:lnSpc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Program Proton </a:t>
            </a:r>
            <a:r>
              <a:rPr lang="en-US" sz="3200" b="1" dirty="0" err="1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Selama</a:t>
            </a:r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 3 </a:t>
            </a:r>
            <a:r>
              <a:rPr lang="en-US" sz="3200" b="1" dirty="0" err="1">
                <a:solidFill>
                  <a:schemeClr val="bg2">
                    <a:lumMod val="25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Tahun</a:t>
            </a:r>
            <a:endParaRPr lang="en-US" sz="3200" b="1" dirty="0">
              <a:solidFill>
                <a:schemeClr val="bg2">
                  <a:lumMod val="25000"/>
                </a:schemeClr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AE53941D-244B-EF61-D213-A5D9C710E4AF}"/>
              </a:ext>
            </a:extLst>
          </p:cNvPr>
          <p:cNvSpPr/>
          <p:nvPr/>
        </p:nvSpPr>
        <p:spPr>
          <a:xfrm>
            <a:off x="146050" y="2516119"/>
            <a:ext cx="3028101" cy="14829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7" name="Textbox 297">
            <a:extLst>
              <a:ext uri="{FF2B5EF4-FFF2-40B4-BE49-F238E27FC236}">
                <a16:creationId xmlns:a16="http://schemas.microsoft.com/office/drawing/2014/main" id="{C285F669-B917-C332-0F7A-EFF0BB7AABFC}"/>
              </a:ext>
            </a:extLst>
          </p:cNvPr>
          <p:cNvSpPr txBox="1"/>
          <p:nvPr/>
        </p:nvSpPr>
        <p:spPr>
          <a:xfrm>
            <a:off x="328554" y="2748712"/>
            <a:ext cx="2398290" cy="12928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spcBef>
                <a:spcPts val="130"/>
              </a:spcBef>
              <a:buNone/>
            </a:pPr>
            <a:r>
              <a:rPr lang="en-US" sz="16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</a:t>
            </a:r>
            <a:r>
              <a:rPr lang="en-US" sz="1600" b="1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Dasar</a:t>
            </a:r>
          </a:p>
          <a:p>
            <a:pPr marL="0" marR="0">
              <a:spcBef>
                <a:spcPts val="130"/>
              </a:spcBef>
              <a:buNone/>
            </a:pPr>
            <a:r>
              <a:rPr lang="id-ID" sz="1200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Deliverable</a:t>
            </a:r>
            <a:r>
              <a:rPr lang="id-ID" sz="1200" spc="-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id-ID" sz="1200" spc="-5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id-ID" sz="1200" spc="-5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endParaRPr lang="en-US" sz="1200" spc="-5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130"/>
              </a:spcBef>
              <a:buNone/>
            </a:pPr>
            <a:r>
              <a:rPr lang="id-ID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Coaching &amp; </a:t>
            </a:r>
            <a:r>
              <a:rPr lang="id-ID" sz="1200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Review</a:t>
            </a:r>
            <a:r>
              <a:rPr lang="en-US" sz="1200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Ujian</a:t>
            </a:r>
            <a:r>
              <a:rPr lang="en-US" sz="1200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Online</a:t>
            </a:r>
          </a:p>
          <a:p>
            <a:pPr marL="0" marR="0">
              <a:spcBef>
                <a:spcPts val="130"/>
              </a:spcBef>
              <a:buNone/>
            </a:pPr>
            <a:r>
              <a:rPr lang="en-US" sz="12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Sertifikasi</a:t>
            </a:r>
            <a:r>
              <a:rPr lang="en-US" sz="1200" b="1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Tahun</a:t>
            </a:r>
            <a:r>
              <a:rPr lang="en-US" sz="1200" b="1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1</a:t>
            </a:r>
            <a:endParaRPr lang="en-US" sz="12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8" name="Textbox 297">
            <a:extLst>
              <a:ext uri="{FF2B5EF4-FFF2-40B4-BE49-F238E27FC236}">
                <a16:creationId xmlns:a16="http://schemas.microsoft.com/office/drawing/2014/main" id="{32CBAE64-9DC0-A4A3-70FD-0D12D95E1A1D}"/>
              </a:ext>
            </a:extLst>
          </p:cNvPr>
          <p:cNvSpPr txBox="1"/>
          <p:nvPr/>
        </p:nvSpPr>
        <p:spPr>
          <a:xfrm>
            <a:off x="3291864" y="2748710"/>
            <a:ext cx="2398290" cy="12928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marR="0">
              <a:spcBef>
                <a:spcPts val="130"/>
              </a:spcBef>
              <a:buNone/>
            </a:pPr>
            <a:r>
              <a:rPr lang="en-US" sz="16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Kompetensi</a:t>
            </a:r>
            <a:r>
              <a:rPr lang="en-US" sz="1600" b="1" spc="-2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600" b="1" spc="-2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Lanjutan</a:t>
            </a:r>
            <a:endParaRPr lang="en-US" sz="1600" b="1" spc="-2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130"/>
              </a:spcBef>
              <a:buNone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Deliverable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Tahun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 Coaching &amp;          Review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Ujian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Online </a:t>
            </a:r>
          </a:p>
          <a:p>
            <a:pPr marL="0" marR="0">
              <a:spcBef>
                <a:spcPts val="130"/>
              </a:spcBef>
              <a:buNone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Sertifikasi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Tahun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</a:t>
            </a:r>
            <a:endParaRPr lang="en-US" sz="1200" b="1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737713-7D88-892B-754A-A0B6D9644D60}"/>
              </a:ext>
            </a:extLst>
          </p:cNvPr>
          <p:cNvSpPr txBox="1"/>
          <p:nvPr/>
        </p:nvSpPr>
        <p:spPr>
          <a:xfrm>
            <a:off x="20498" y="1879644"/>
            <a:ext cx="999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97809B-14E4-871B-8F26-41AFC23055ED}"/>
              </a:ext>
            </a:extLst>
          </p:cNvPr>
          <p:cNvSpPr txBox="1"/>
          <p:nvPr/>
        </p:nvSpPr>
        <p:spPr>
          <a:xfrm>
            <a:off x="2477212" y="1869810"/>
            <a:ext cx="999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11A1A5-11FA-25CB-CDB1-2863D3EE4C41}"/>
              </a:ext>
            </a:extLst>
          </p:cNvPr>
          <p:cNvSpPr txBox="1"/>
          <p:nvPr/>
        </p:nvSpPr>
        <p:spPr>
          <a:xfrm>
            <a:off x="5144734" y="1879643"/>
            <a:ext cx="999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293A9B4B-BC6D-80D6-0B11-68B3842B65C3}"/>
              </a:ext>
            </a:extLst>
          </p:cNvPr>
          <p:cNvSpPr/>
          <p:nvPr/>
        </p:nvSpPr>
        <p:spPr>
          <a:xfrm>
            <a:off x="0" y="6049926"/>
            <a:ext cx="12191999" cy="808074"/>
          </a:xfrm>
          <a:custGeom>
            <a:avLst/>
            <a:gdLst/>
            <a:ahLst/>
            <a:cxnLst/>
            <a:rect l="l" t="t" r="r" b="b"/>
            <a:pathLst>
              <a:path w="5091736" h="1108484">
                <a:moveTo>
                  <a:pt x="40046" y="0"/>
                </a:moveTo>
                <a:lnTo>
                  <a:pt x="5051690" y="0"/>
                </a:lnTo>
                <a:cubicBezTo>
                  <a:pt x="5073807" y="0"/>
                  <a:pt x="5091736" y="17929"/>
                  <a:pt x="5091736" y="40046"/>
                </a:cubicBezTo>
                <a:lnTo>
                  <a:pt x="5091736" y="1068439"/>
                </a:lnTo>
                <a:cubicBezTo>
                  <a:pt x="5091736" y="1090555"/>
                  <a:pt x="5073807" y="1108484"/>
                  <a:pt x="5051690" y="1108484"/>
                </a:cubicBezTo>
                <a:lnTo>
                  <a:pt x="40046" y="1108484"/>
                </a:lnTo>
                <a:cubicBezTo>
                  <a:pt x="17929" y="1108484"/>
                  <a:pt x="0" y="1090555"/>
                  <a:pt x="0" y="1068439"/>
                </a:cubicBezTo>
                <a:lnTo>
                  <a:pt x="0" y="40046"/>
                </a:lnTo>
                <a:cubicBezTo>
                  <a:pt x="0" y="17929"/>
                  <a:pt x="17929" y="0"/>
                  <a:pt x="40046" y="0"/>
                </a:cubicBezTo>
                <a:close/>
              </a:path>
            </a:pathLst>
          </a:custGeom>
          <a:gradFill rotWithShape="1">
            <a:gsLst>
              <a:gs pos="0">
                <a:srgbClr val="0589C2">
                  <a:alpha val="100000"/>
                </a:srgbClr>
              </a:gs>
              <a:gs pos="50000">
                <a:srgbClr val="3ABDD4">
                  <a:alpha val="100000"/>
                </a:srgbClr>
              </a:gs>
              <a:gs pos="100000">
                <a:srgbClr val="93EFFF">
                  <a:alpha val="10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9012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627E5-AEAB-7AD0-D827-D5264BA3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0AE81D-DE9C-40CE-264B-CC6A7D00C9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DFC79-0234-EBB1-550F-B2D708F6F66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96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111BF-F5DC-D6CD-6D2A-9CE351C6D2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31088" y="2131512"/>
            <a:ext cx="8782493" cy="190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2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1350</Words>
  <Application>Microsoft Office PowerPoint</Application>
  <PresentationFormat>Widescreen</PresentationFormat>
  <Paragraphs>300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M.Hafiz Yasykur</dc:creator>
  <cp:lastModifiedBy>M.Hafiz Yasykur</cp:lastModifiedBy>
  <cp:revision>12</cp:revision>
  <dcterms:created xsi:type="dcterms:W3CDTF">2026-04-27T00:28:10Z</dcterms:created>
  <dcterms:modified xsi:type="dcterms:W3CDTF">2026-04-29T00:19:36Z</dcterms:modified>
</cp:coreProperties>
</file>